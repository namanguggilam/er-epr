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charts/chart1.xml" ContentType="application/vnd.openxmlformats-officedocument.drawingml.chart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charts/chart2.xml" ContentType="application/vnd.openxmlformats-officedocument.drawingml.chart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charts/chart3.xml" ContentType="application/vnd.openxmlformats-officedocument.drawingml.chart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</p:sldIdLst>
  <p:notesMasterIdLst>
    <p:notesMasterId r:id="rId10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heme" Target="theme/theme1.xml"/><Relationship Id="rId10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61F38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61F38"/>
                </a:solidFill>
                <a:latin typeface="Calibri"/>
              </a:rPr>
              <a:t>Ĝ vs circle separation m   (β = 20)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Schwarzian, C ÷ 5</c:v>
                </c:pt>
              </c:strCache>
            </c:strRef>
          </c:tx>
          <c:spPr>
            <a:solidFill>
              <a:srgbClr val="C05746"/>
            </a:solidFill>
            <a:ln w="31750" cap="flat">
              <a:solidFill>
                <a:srgbClr val="C057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05746"/>
              </a:solidFill>
              <a:ln w="9525" cap="flat">
                <a:solidFill>
                  <a:srgbClr val="C057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6</c:v>
                  </c:pt>
                  <c:pt idx="5">
                    <c:v>8</c:v>
                  </c:pt>
                  <c:pt idx="6">
                    <c:v>10</c:v>
                  </c:pt>
                  <c:pt idx="7">
                    <c:v>12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6.21</c:v>
                </c:pt>
                <c:pt idx="1">
                  <c:v>3.29</c:v>
                </c:pt>
                <c:pt idx="2">
                  <c:v>2.32</c:v>
                </c:pt>
                <c:pt idx="3">
                  <c:v>1.86</c:v>
                </c:pt>
                <c:pt idx="4">
                  <c:v>1.39</c:v>
                </c:pt>
                <c:pt idx="5">
                  <c:v>1.15</c:v>
                </c:pt>
                <c:pt idx="6">
                  <c:v>1.033</c:v>
                </c:pt>
                <c:pt idx="7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Schwarzian, declared C</c:v>
                </c:pt>
              </c:strCache>
            </c:strRef>
          </c:tx>
          <c:spPr>
            <a:solidFill>
              <a:srgbClr val="1B2A4A"/>
            </a:solidFill>
            <a:ln w="31750" cap="flat">
              <a:solidFill>
                <a:srgbClr val="1B2A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B2A4A"/>
              </a:solidFill>
              <a:ln w="9525" cap="flat">
                <a:solidFill>
                  <a:srgbClr val="1B2A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6</c:v>
                  </c:pt>
                  <c:pt idx="5">
                    <c:v>8</c:v>
                  </c:pt>
                  <c:pt idx="6">
                    <c:v>10</c:v>
                  </c:pt>
                  <c:pt idx="7">
                    <c:v>12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3.935</c:v>
                </c:pt>
                <c:pt idx="1">
                  <c:v>2.429</c:v>
                </c:pt>
                <c:pt idx="2">
                  <c:v>1.8843</c:v>
                </c:pt>
                <c:pt idx="3">
                  <c:v>1.5924</c:v>
                </c:pt>
                <c:pt idx="4">
                  <c:v>1.2843</c:v>
                </c:pt>
                <c:pt idx="5">
                  <c:v>1.1122</c:v>
                </c:pt>
                <c:pt idx="6">
                  <c:v>1.0269</c:v>
                </c:pt>
                <c:pt idx="7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Conformal, C → ∞</c:v>
                </c:pt>
              </c:strCache>
            </c:strRef>
          </c:tx>
          <c:spPr>
            <a:solidFill>
              <a:srgbClr val="9AA8C2"/>
            </a:solidFill>
            <a:ln w="31750" cap="flat">
              <a:solidFill>
                <a:srgbClr val="9AA8C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AA8C2"/>
              </a:solidFill>
              <a:ln w="9525" cap="flat">
                <a:solidFill>
                  <a:srgbClr val="9AA8C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6</c:v>
                  </c:pt>
                  <c:pt idx="5">
                    <c:v>8</c:v>
                  </c:pt>
                  <c:pt idx="6">
                    <c:v>10</c:v>
                  </c:pt>
                  <c:pt idx="7">
                    <c:v>12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2.7679</c:v>
                </c:pt>
                <c:pt idx="1">
                  <c:v>1.9659</c:v>
                </c:pt>
                <c:pt idx="2">
                  <c:v>1.6199</c:v>
                </c:pt>
                <c:pt idx="3">
                  <c:v>1.4235</c:v>
                </c:pt>
                <c:pt idx="4">
                  <c:v>1.2071</c:v>
                </c:pt>
                <c:pt idx="5">
                  <c:v>1.0746</c:v>
                </c:pt>
                <c:pt idx="6">
                  <c:v>1.0138</c:v>
                </c:pt>
                <c:pt idx="7">
                  <c:v>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SYK, N = 18</c:v>
                </c:pt>
              </c:strCache>
            </c:strRef>
          </c:tx>
          <c:spPr>
            <a:solidFill>
              <a:srgbClr val="E9A13B"/>
            </a:solidFill>
            <a:ln w="31750" cap="flat">
              <a:solidFill>
                <a:srgbClr val="E9A1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9A13B"/>
              </a:solidFill>
              <a:ln w="9525" cap="flat">
                <a:solidFill>
                  <a:srgbClr val="E9A1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6</c:v>
                  </c:pt>
                  <c:pt idx="5">
                    <c:v>8</c:v>
                  </c:pt>
                  <c:pt idx="6">
                    <c:v>10</c:v>
                  </c:pt>
                  <c:pt idx="7">
                    <c:v>12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2.4743</c:v>
                </c:pt>
                <c:pt idx="1">
                  <c:v>1.8752</c:v>
                </c:pt>
                <c:pt idx="2">
                  <c:v>1.5723</c:v>
                </c:pt>
                <c:pt idx="3">
                  <c:v>1.3963</c:v>
                </c:pt>
                <c:pt idx="4">
                  <c:v>1.1974</c:v>
                </c:pt>
                <c:pt idx="5">
                  <c:v>1.0939</c:v>
                </c:pt>
                <c:pt idx="6">
                  <c:v>1.0201</c:v>
                </c:pt>
                <c:pt idx="7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.5"/>
          <c:min val="1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5A647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61F38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61F38"/>
                </a:solidFill>
                <a:latin typeface="Calibri"/>
              </a:rPr>
              <a:t>Ĝ(1): measured SYK against the Schwarzian floor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SYK, N = 18</c:v>
                </c:pt>
              </c:strCache>
            </c:strRef>
          </c:tx>
          <c:spPr>
            <a:solidFill>
              <a:srgbClr val="E9A13B"/>
            </a:solidFill>
            <a:ln w="31750" cap="flat">
              <a:solidFill>
                <a:srgbClr val="E9A1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9A13B"/>
              </a:solidFill>
              <a:ln w="9525" cap="flat">
                <a:solidFill>
                  <a:srgbClr val="E9A1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β = 5</c:v>
                  </c:pt>
                  <c:pt idx="1">
                    <c:v>β = 10</c:v>
                  </c:pt>
                  <c:pt idx="2">
                    <c:v>β = 20</c:v>
                  </c:pt>
                  <c:pt idx="3">
                    <c:v>β = 40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1.303</c:v>
                </c:pt>
                <c:pt idx="1">
                  <c:v>1.729</c:v>
                </c:pt>
                <c:pt idx="2">
                  <c:v>2.474</c:v>
                </c:pt>
                <c:pt idx="3">
                  <c:v>3.554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SYK, N = 14</c:v>
                </c:pt>
              </c:strCache>
            </c:strRef>
          </c:tx>
          <c:spPr>
            <a:solidFill>
              <a:srgbClr val="F0C689"/>
            </a:solidFill>
            <a:ln w="31750" cap="flat">
              <a:solidFill>
                <a:srgbClr val="F0C68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0C689"/>
              </a:solidFill>
              <a:ln w="9525" cap="flat">
                <a:solidFill>
                  <a:srgbClr val="F0C68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β = 5</c:v>
                  </c:pt>
                  <c:pt idx="1">
                    <c:v>β = 10</c:v>
                  </c:pt>
                  <c:pt idx="2">
                    <c:v>β = 20</c:v>
                  </c:pt>
                  <c:pt idx="3">
                    <c:v>β = 40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1.305</c:v>
                </c:pt>
                <c:pt idx="1">
                  <c:v>1.765</c:v>
                </c:pt>
                <c:pt idx="2">
                  <c:v>2.631</c:v>
                </c:pt>
                <c:pt idx="3">
                  <c:v>4.55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Conformal floor 2.768</c:v>
                </c:pt>
              </c:strCache>
            </c:strRef>
          </c:tx>
          <c:spPr>
            <a:solidFill>
              <a:srgbClr val="1B2A4A"/>
            </a:solidFill>
            <a:ln w="31750" cap="flat">
              <a:solidFill>
                <a:srgbClr val="1B2A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B2A4A"/>
              </a:solidFill>
              <a:ln w="9525" cap="flat">
                <a:solidFill>
                  <a:srgbClr val="1B2A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β = 5</c:v>
                  </c:pt>
                  <c:pt idx="1">
                    <c:v>β = 10</c:v>
                  </c:pt>
                  <c:pt idx="2">
                    <c:v>β = 20</c:v>
                  </c:pt>
                  <c:pt idx="3">
                    <c:v>β = 40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2.768</c:v>
                </c:pt>
                <c:pt idx="1">
                  <c:v>2.768</c:v>
                </c:pt>
                <c:pt idx="2">
                  <c:v>2.768</c:v>
                </c:pt>
                <c:pt idx="3">
                  <c:v>2.768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1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5A647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1F38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61F38"/>
                </a:solidFill>
                <a:latin typeface="Calibri"/>
              </a:rPr>
              <a:t>One C cannot fit two separations   (agreement ⇒ 1.0)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ratio</c:v>
                </c:pt>
              </c:strCache>
            </c:strRef>
          </c:tx>
          <c:spPr>
            <a:solidFill>
              <a:srgbClr val="E9A13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61F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 = 12</c:v>
                  </c:pt>
                  <c:pt idx="1">
                    <c:v>N = 14</c:v>
                  </c:pt>
                  <c:pt idx="2">
                    <c:v>N = 16</c:v>
                  </c:pt>
                  <c:pt idx="3">
                    <c:v>N = 18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1.467</c:v>
                </c:pt>
                <c:pt idx="1">
                  <c:v>7.808</c:v>
                </c:pt>
                <c:pt idx="2">
                  <c:v>3.139</c:v>
                </c:pt>
                <c:pt idx="3">
                  <c:v>1.859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50" u="none">
                  <a:solidFill>
                    <a:srgbClr val="161F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61F38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61F38"/>
                </a:solidFill>
                <a:latin typeface="Calibri"/>
              </a:rPr>
              <a:t>Finer grid → WORSE agreement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per-pair gap</c:v>
                </c:pt>
              </c:strCache>
            </c:strRef>
          </c:tx>
          <c:spPr>
            <a:solidFill>
              <a:srgbClr val="C0574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1F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nτ = 12</c:v>
                  </c:pt>
                  <c:pt idx="1">
                    <c:v>nτ = 24</c:v>
                  </c:pt>
                  <c:pt idx="2">
                    <c:v>nτ = 48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0.34</c:v>
                </c:pt>
                <c:pt idx="1">
                  <c:v>0.445</c:v>
                </c:pt>
                <c:pt idx="2">
                  <c:v>0.523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61F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5"/>
          <c:min val="0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61F38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61F38"/>
                </a:solidFill>
                <a:latin typeface="Calibri"/>
              </a:rPr>
              <a:t>Dropping the shortest separations →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W_H0</c:v>
                </c:pt>
              </c:strCache>
            </c:strRef>
          </c:tx>
          <c:spPr>
            <a:solidFill>
              <a:srgbClr val="3E8E7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1F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 ≥ 1</c:v>
                  </c:pt>
                  <c:pt idx="1">
                    <c:v>m ≥ 2</c:v>
                  </c:pt>
                  <c:pt idx="2">
                    <c:v>m ≥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10.24</c:v>
                </c:pt>
                <c:pt idx="1">
                  <c:v>7.82</c:v>
                </c:pt>
                <c:pt idx="2">
                  <c:v>6.05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61F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assumes no background. Parts I-III build every concept needed; Parts IV-IX are the project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ladder structure is deliberate: each rung is the smallest step that could fail informatively.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returning to this framing; every technical slide is in service of making this sentence checkable.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Roughly sixteen slides. Everything here is standard physics, built up in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Dirac notation: a ket is just a column vector. Nothing deeper is meant by the bracket.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Entanglement is not exotic; it is generic. Product states are the measure-zero special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Rung 1 will turn out to be a tautology, but the state itself is the correct starting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conceptual move: a pure global state can have maximally mixed parts. That is what entanglement means operationally.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 2 recurs throughout this project, including as the exact value of a numerical check in Rung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 the circularity early so the audience sees it coming rather than feeling it was hidden.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Beta is inverse temperature throughout. Our sweep is beta in {5, 10, 20, 40}.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one idea from Part I must survive, it is this: the TFD makes the entanglement/geometry pairing concrete and parameterised.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Area-scaling is the empirical anomaly; holography is the hypothesis that explains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RT is where the project's Rung 1 gets its geometry — and, as we will see, where the circularity enters.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the no-signalling property on both sides is a nontrivial agreement.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conjecture only after the audience has both halves. Now the question is how one would test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sets up Part II and, in hindsight, states the exact criterion that Rung 4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bullet is honest foreshadowing: the assumption is what Rung 4 overturns.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topology background assumed. Sixteen slides to a working understanding of barcodes.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relevance: our two sides are described in incompatible coordinates, so we want an invariant that does not care about coordinates.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clouds are how physics data actually looks. Everything downstream is machinery for extracting shape from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distinction between a triangle's boundary (a loop) and a filled triangle (no loop) is the entire mechanism of homology.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dwell on signs. The one structural fact is that boundaries are a subspace of cycles, which makes the quotient well defined.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H0 and H1 are all we compute. Higher homology exists in our filtrations but is invisible at maxdim=1 — a point that matters in Rung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motivates the entire field. The answer is not a better threshold; it is to use all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Filtration is the single idea that turns homology from a static invariant into a multi-scale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 the edge-ordering property here; Rung 5's structure theorem is built directly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birth/death pair is the atomic unit of the whole theory. Everything else is bookkeeping over these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form is the computational one. Barcode form is the intuitive one. Same object.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stating carefully: many write-ups treat naturality as a theorem to prove. In this category it is definitional.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Rung 5's corollary uses exactly this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Knowing p and the ground metric exactly turned out to matter: it let us predict W_H0 analytically and confirm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Stability is often presented as the field's guarantee. It is a guarantee of robustness, not of informativeness.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honest hinge of the whole deck. Everything in Part VII turns on property 3 failing in our specific 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external theorem the project's own result depends on, so it was checked at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SYK and JT are the simplest concrete holographic pair. That simplicity is why they are the right test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limitation in Part VII traces back to this dimension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this implementation line by line: strings, normalisation, variance, hermiticity all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SYK sits at the unique intersection of 'has a gravity dual' and 'a laptop can compute it'.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conformal value is a fixed, temperature-independent number, and it ends up being the wall SYK cannot get past.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Schwarzian is the meeting point. Both sides reduce to it, which is what makes the duality checkable.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JT is where the ER side of the project's numerics comes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holographic pair at the centre of the project. Everything is a test of this correspondence.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calligraphic-J catch is worth telling: it is the kind of silent factor-of-root-two error that corrupts everything while looking 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the ER side of Rung 4 is a numerical evaluation of this one expression.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Jacobian was later A/B tested explicitly; the barcodes are bit-identical with and without it because of the shape gauge.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 matters as much as result here, because the central risk is self-deception rather than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thesis statement. Rungs 1-4 are attempts to make it checkable; Rung 5 is the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ladder is not incremental for its own sake: each rung is chosen so its failure mode is diagnosable.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methodological contribution and is worth dwelling on with judges.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audience remembers one methodological point, this is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rungs are honest pipeline validation. The critique is as important as the 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here is correct and runs. The question is what it establishes.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engineering this is a clean success. As physics it is about to be demolished.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Owning this in the paper is far stronger than letting a referee find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Rung 2 is a real improvement in ambition. It still fails the independence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distinction between 'validated machinery' and 'physics result' is the thing to hold 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lesson is what makes the later rungs trustworthy.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Rung 3 is where the project stopped being a toy and immediately hit a structural wall.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asymmetry in the last line is the finding, and it is not a numerical accident.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chordality argument is the correct proof. Two earlier attempts — curvature and triangle-filling — were both wrong and were discarded.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wrong explanation that gives the right answer is still a liability, because it will mislead the next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Rung 3's value is entirely in this diagnosis. It is a failed measurement and a successful experiment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of the work. Roughly twenty-five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Symmetry of construction is the thing Rung 3 lacked and this rung was designed to supply.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control design is what makes 2/16 readable as a number rather than an impression.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Adding Check E was a scope catch: the validated regime and the used regime did not overlap.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was a genuine upgrade found during review: the check is stronger than it was originally 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independent indications, all pointing the same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Reporting a failed pre-registered gate honestly is the methodological high point of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caveat was found by reading the code rather than the output, and it belongs in the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Profile values are the committed run's; the gauge forces agreement at m=12 by 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Everything after this slide is consequence.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step is checkable independently, and each was checked.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Predicting an output analytically and then hitting it is the strongest form of validation available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generality is what makes it publishable: it is a statement about a whole class of pipelines.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earlier version of this claim was overgeneralised from a single-beta sweep; the per-beta restatement is the correct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Including the retraction is deliberate: it demonstrates the discipline actually operating.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independent failures of dictionary behaviour. The separation-inconsistency one is independent of C entirely: it is a shape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cleanest single falsification in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Refining a discretisation should improve a comparison. Here it makes it worse, because finer grids probe further into the UV where the dictionary does not apply.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Convergent independent evidence is what turns a negative into a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one a sceptical judge tests hardest, so it is written to survive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mathematical contribution, and the part still in progress.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 from 'prove X' to 'characterise when X holds' is the single most valuable structural decision in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Naman's result and the load-bearing piece of the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explicit about which step is delicate is more persuasive than claiming all four are equally solid.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the gap precisely is what makes the rest of the theorem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it as answered rather than failed. A decidable criterion plus a verdict is a complete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section: contribution, limitations, next steps, logistics.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lead with when explaining the work to someone who only has a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future-work section available, because it is implied by our own theorem rather than speculative.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ordering also makes the paper readable by a topologist who does not care about holography.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repository item is the real blocker: everything else is safe, and that one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review discipline is a shared standard, not one person checking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travels well to audiences who do not care about holography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reframing. The theorem generalises beyond SYK/JT, which is what makes the negative worth publishing.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external result the project depends on was checked against its source rather than quoted from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645920"/>
            <a:ext cx="6035040" cy="6035040"/>
          </a:xfrm>
          <a:prstGeom prst="ellipse">
            <a:avLst/>
          </a:prstGeom>
          <a:solidFill>
            <a:srgbClr val="1B2A4A">
              <a:alpha val="75000"/>
            </a:srgbClr>
          </a:solidFill>
          <a:ln w="12700">
            <a:solidFill>
              <a:srgbClr val="1B2A4A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3200400"/>
            <a:ext cx="3291840" cy="3291840"/>
          </a:xfrm>
          <a:prstGeom prst="ellipse">
            <a:avLst/>
          </a:prstGeom>
          <a:solidFill>
            <a:srgbClr val="24406B">
              <a:alpha val="55000"/>
            </a:srgbClr>
          </a:solidFill>
          <a:ln w="12700">
            <a:solidFill>
              <a:srgbClr val="24406B">
                <a:alpha val="5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ACCOUNT, FROM FIRST PRINCIPLES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 Homology as a</a:t>
            </a:r>
            <a:endParaRPr lang="en-US" sz="42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Probe of ER = EPR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86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question, the mathematics, and the experiment from the ground up — then reporting what we found.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2743200" cy="0"/>
          </a:xfrm>
          <a:prstGeom prst="line">
            <a:avLst/>
          </a:prstGeom>
          <a:noFill/>
          <a:ln w="25400">
            <a:solidFill>
              <a:srgbClr val="E9A1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5120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Naman Guggilam  ·  Arjun Paradkar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486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Rungs 1–4 complete  ·  Rung 5 in progress  ·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deck is organised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parts of background, then five parts of project. Nothing is used before it is defined.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911535" cy="649224"/>
          </a:xfrm>
          <a:prstGeom prst="roundRect">
            <a:avLst>
              <a:gd name="adj" fmla="val 7042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263140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9536" y="22631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212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· The physics question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49631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Entanglement, entropy, black holes, holography, and the ER = EPR conjecture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907792"/>
            <a:ext cx="10911535" cy="649224"/>
          </a:xfrm>
          <a:prstGeom prst="roundRect">
            <a:avLst>
              <a:gd name="adj" fmla="val 7042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3022092"/>
            <a:ext cx="420624" cy="420624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9536" y="30220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2971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· The topology toolkit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3255264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Simplicial complexes, homology, filtrations, persistence, barcodes, and the metric between them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666744"/>
            <a:ext cx="10911535" cy="649224"/>
          </a:xfrm>
          <a:prstGeom prst="roundRect">
            <a:avLst>
              <a:gd name="adj" fmla="val 7042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" y="3781044"/>
            <a:ext cx="420624" cy="420624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9536" y="37810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3730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 · The two systems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4014216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SYK model, JT gravity, the Schwarzian mode, and the dictionary joining them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425696"/>
            <a:ext cx="10911535" cy="649224"/>
          </a:xfrm>
          <a:prstGeom prst="roundRect">
            <a:avLst>
              <a:gd name="adj" fmla="val 7042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" y="4539996"/>
            <a:ext cx="420624" cy="420624"/>
          </a:xfrm>
          <a:prstGeom prst="ellipse">
            <a:avLst/>
          </a:prstGeom>
          <a:solidFill>
            <a:srgbClr val="C057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9536" y="45399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481328" y="44897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IV–VIII · The experiment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1481328" y="4773168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rungs, built so that a wrong answer is visible — design, results, and critique of each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184648"/>
            <a:ext cx="10911535" cy="649224"/>
          </a:xfrm>
          <a:prstGeom prst="roundRect">
            <a:avLst>
              <a:gd name="adj" fmla="val 7042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" y="5298948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59536" y="52989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481328" y="52486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IX · What it means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1481328" y="5532120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 theorem, a falsified dictionary, and the correct next construction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926080"/>
            <a:ext cx="5852160" cy="5852160"/>
          </a:xfrm>
          <a:prstGeom prst="ellipse">
            <a:avLst/>
          </a:prstGeom>
          <a:solidFill>
            <a:srgbClr val="1B2A4A">
              <a:alpha val="60000"/>
            </a:srgbClr>
          </a:solidFill>
          <a:ln w="12700">
            <a:solidFill>
              <a:srgbClr val="1B2A4A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1280160"/>
            <a:ext cx="4206240" cy="4206240"/>
          </a:xfrm>
          <a:prstGeom prst="ellipse">
            <a:avLst/>
          </a:prstGeom>
          <a:solidFill>
            <a:srgbClr val="24406B">
              <a:alpha val="50000"/>
            </a:srgbClr>
          </a:solidFill>
          <a:ln w="12700">
            <a:solidFill>
              <a:srgbClr val="24406B">
                <a:alpha val="5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71600" y="17373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spc="4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ONE-SENTENCE VERSION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22402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the shape of entanglement</a:t>
            </a:r>
            <a:endParaRPr lang="en-US" sz="28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shape of spacetime</a:t>
            </a:r>
            <a:endParaRPr lang="en-US" sz="28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shown to be the same shape?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394960" y="4315968"/>
            <a:ext cx="1371600" cy="0"/>
          </a:xfrm>
          <a:prstGeom prst="line">
            <a:avLst/>
          </a:prstGeom>
          <a:noFill/>
          <a:ln w="25400">
            <a:solidFill>
              <a:srgbClr val="E9A1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94560" y="459028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homology gives a precise, computable meaning to “shape.” This project asks whether that meaning is strong enough to detect the ER = EPR correspondence — and finds out exactly what it can and cannot see.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377440"/>
            <a:ext cx="5669280" cy="5669280"/>
          </a:xfrm>
          <a:prstGeom prst="ellipse">
            <a:avLst/>
          </a:prstGeom>
          <a:solidFill>
            <a:srgbClr val="1B2A4A">
              <a:alpha val="65000"/>
            </a:srgbClr>
          </a:solidFill>
          <a:ln w="12700">
            <a:solidFill>
              <a:srgbClr val="1B2A4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60604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physics question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qubit to the conjecture that entanglement is geometry.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quantum state is a vector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of an isolated quantum system is a unit vector in a complex vector space called a Hilbert space. For a single qubit — a two-level system — that space is two-dimensional.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1051560"/>
          </a:xfrm>
          <a:prstGeom prst="roundRect">
            <a:avLst>
              <a:gd name="adj" fmla="val 4348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9456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|ψ⟩  =  α |0⟩  +  β |1⟩        with   |α|² + |β|² = 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Superposition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not secretly in 0 or 1. The coefficients α and β both matter, including their relative phase.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4730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624730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in the {|0⟩,|1⟩} basis returns 0 with probability |α|² and 1 with probability |β|².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7317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3349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unit length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53349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must sum to one. Normalisation is that requirement written as geometry.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systems combine by tensor product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system A with space H_A and system B with space H_B, the joint system lives in the tensor product. Dimensions multiply rather than add — this is the origin of quantum computing's power and of everything that follows.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1051560"/>
          </a:xfrm>
          <a:prstGeom prst="roundRect">
            <a:avLst>
              <a:gd name="adj" fmla="val 4348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9456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H_AB  =  H_A ⊗ H_B          dim(H_AB) = dim(H_A) · dim(H_B)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states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joint states factor: |ψ⟩ = |a⟩ ⊗ |b⟩. Each part has a state of its own.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4730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else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624730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states do NOT factor. Those are entangled — the joint state is defined but neither part has its own.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7317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3349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Counting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53349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qubits give a four-dimensional space. N qubits give 2ᴺ. Only a vanishing fraction are product states.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Bell state: entanglement in its purest form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maximally entangled state of two qubits. It is the simplest object in which entanglement can be studied, and it is where this project's Rung 1 begins.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5349240" cy="2864023"/>
          </a:xfrm>
          <a:prstGeom prst="roundRect">
            <a:avLst>
              <a:gd name="adj" fmla="val 1596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54096"/>
            <a:ext cx="4709160" cy="1766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|Φ⁺⟩ = ( |00⟩ + |11⟩ ) / √2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correlated: measure A and get 0, and B is certainly 0. Measure A and get 1, and B is certainly 1. Yet before measurement neither qubit has a definite value.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correlation is stronger than any classical model of local hidden variables permits — this is what Bell's inequality tests.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2212848"/>
            <a:ext cx="5349240" cy="2864023"/>
          </a:xfrm>
          <a:prstGeom prst="roundRect">
            <a:avLst>
              <a:gd name="adj" fmla="val 159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here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054096"/>
            <a:ext cx="4709160" cy="1766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Bell state is the smallest system with a genuine, quantifiable amount of entanglement. If ER = EPR is right, even this two-qubit state should have a geometric counterpart.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Susskind and Maldacena's proposal is often stated exactly this way: a Bell pair is a Planck-scale wormhole. Rung 1 takes that literally and asks whether the two objects have the same topological fingerprint.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part has no state of its own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is entangled with B, no vector describes A alone. The correct object is a density matrix: obtained by tracing out everything we do not have access to.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1051560"/>
          </a:xfrm>
          <a:prstGeom prst="roundRect">
            <a:avLst>
              <a:gd name="adj" fmla="val 4348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9456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ρ_A  =  Tr_B |ψ⟩⟨ψ|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state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|ψ⟩⟨ψ|, and ρ² = ρ. All the information is present; the system is in a definite state.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4730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 state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624730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ρ² ≠ ρ. Information is genuinely absent — not hidden from us by ignorance, but absent in principle.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7317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3349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Bell case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53349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out one qubit of |Φ⁺⟩ gives ρ_A = I / 2. Maximally mixed: the reduced state is completely uninformative.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Entropy measures how much is missing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von Neumann entropy quantifies the mixedness of a reduced state — and therefore how much the part is entangled with everything it was separated from.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1051560"/>
          </a:xfrm>
          <a:prstGeom prst="roundRect">
            <a:avLst>
              <a:gd name="adj" fmla="val 4348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9456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S(A)  =  − Tr ( ρ_A log ρ_A )  =  − Σₙ λₙ log λₙ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0 exactly when ρ_A is pure — no entanglement with the outside. A product state.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4730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Maximal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624730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log d for a d-dimensional maximally mixed state. The Bell pair gives S = log 2.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7317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3349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thermodynamic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53349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entanglement entropy: it measures correlation with an inaccessible partner, not disorder from heat.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information: shared structure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A and B know about each other, in bits. For a pure global state it reduces to twice the entanglement entropy — which is the form Rungs 1 and 2 use.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1051560"/>
          </a:xfrm>
          <a:prstGeom prst="roundRect">
            <a:avLst>
              <a:gd name="adj" fmla="val 4348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9456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I(A:B)  =  S(A) + S(B) − S(AB)          ⟶   2 S(A)   when |ψ⟩_AB is pure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distance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correlated systems are intuitively “close.” Rung 1 encodes this as d = 1 / I(A:B).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4730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catch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624730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choice is a modelling decision, not a derivation. Different monotone functions give different geometries.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7317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3349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Foreshadowing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53349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map and then measuring agreement with it is exactly how Rung 1 becomes circular.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enters through the Boltzmann weight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in thermal equilibrium at inverse temperature β = 1/T is described by a mixed state weighted by energy. Everything temperature-dependent in this project flows from this one expression.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1051560"/>
          </a:xfrm>
          <a:prstGeom prst="roundRect">
            <a:avLst>
              <a:gd name="adj" fmla="val 4348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9456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ρ_β  =  e^(−βH) / Z(β)          Z(β)  =  Tr e^(−βH)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T (small β)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states weighted nearly equally. The state is close to maximally mixed.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4730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T (large β)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624730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 state dominates. In our numerics β = 40 is deep in this regime, and it is where the data is noisiest.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7317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3349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53349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partition function. Its logarithm is the free energy — and Check A in Rung 4 validates our machinery against it.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8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thermofield double: purifying a thermal state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thermal mixed state can always be written as a pure entangled state of two copies. This construction is the exact point where entanglement and geometry meet.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5349240" cy="2986065"/>
          </a:xfrm>
          <a:prstGeom prst="roundRect">
            <a:avLst>
              <a:gd name="adj" fmla="val 1531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construction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54096"/>
            <a:ext cx="4709160" cy="188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|TFD(β)⟩ = (1/√Z) Σₙ e^(−βEₙ/2) |n⟩_L ⊗ |n⟩_R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two identical copies, L and R. Entangle level n with level n, weighted by half the Boltzmann factor.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out R and you recover exactly the thermal state ρ_β on L. The temperature of one side is the entanglement with the other.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2212848"/>
            <a:ext cx="5349240" cy="2986065"/>
          </a:xfrm>
          <a:prstGeom prst="roundRect">
            <a:avLst>
              <a:gd name="adj" fmla="val 153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the central object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054096"/>
            <a:ext cx="4709160" cy="188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TFD is the pair on which ER = EPR is sharpest. Its entanglement is tunable by a single knob, β, with no other freedom.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temperature means strong entanglement between L and R. Low temperature means weak. And on the gravity side, the dual of the TFD is a specific, well-understood geometry — the eternal black hole.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rung from 2 onward uses the TFD or its correlators.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9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 holes have entropy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Bekenstein and Hawking established that a black hole carries entropy proportional to its horizon AREA, not its volume. This is the observation from which holography grows.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2522144" cy="263956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87168"/>
            <a:ext cx="402336" cy="402336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formula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75888"/>
            <a:ext cx="1973504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A / 4Għ. Entropy counted in Planck areas tiling the horizon. Our conventions set 4Għ = 1, so entropy IS area.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36544" y="2212848"/>
            <a:ext cx="2522144" cy="263956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10864" y="2487168"/>
            <a:ext cx="402336" cy="402336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10864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710864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strangeness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3710864" y="3675888"/>
            <a:ext cx="1973504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system's entropy scales with volume. A black hole's scales with the boundary of its region — one dimension short.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33008" y="2212848"/>
            <a:ext cx="2522144" cy="263956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7328" y="2487168"/>
            <a:ext cx="402336" cy="402336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7328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inference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07328" y="3675888"/>
            <a:ext cx="1973504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maximum information in a region is set by its boundary, the true degrees of freedom may live on that boundary.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29471" y="2212848"/>
            <a:ext cx="2522144" cy="263956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03791" y="2487168"/>
            <a:ext cx="402336" cy="402336"/>
          </a:xfrm>
          <a:prstGeom prst="ellipse">
            <a:avLst/>
          </a:prstGeom>
          <a:solidFill>
            <a:srgbClr val="C057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03791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303791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Hawking radiation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9303791" y="3675888"/>
            <a:ext cx="1973504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holes also radiate at a temperature set by their surface gravity — which is why thermal states and geometry are linked at all.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10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Holography: a bulk described by its boundary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AdS/CFT correspondence proposes an exact equivalence between a gravitational theory in a volume and a quantum field theory living on its boundary, one dimension lower.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5349240" cy="3364992"/>
          </a:xfrm>
          <a:prstGeom prst="roundRect">
            <a:avLst>
              <a:gd name="adj" fmla="val 1359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dictionary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54096"/>
            <a:ext cx="47091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bulk gravitational theory in (d+1) dimensions ⇔ a boundary quantum theory in d dimensions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map to states, operators to operators, and observables computed either way must agree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coupled boundary physics maps to weakly curved bulk geometry — which is what makes it useful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case is the lowest-dimensional one: a 1-dimensional boundary quantum model, a 2-dimensional bulk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212848"/>
            <a:ext cx="5349240" cy="3364992"/>
          </a:xfrm>
          <a:prstGeom prst="roundRect">
            <a:avLst>
              <a:gd name="adj" fmla="val 135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Ryu–Takayanagi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054096"/>
            <a:ext cx="47091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sharpest entry in the dictionary for our purposes: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S(A)  =  Area(γ_A) / 4Għ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entanglement entropy of a boundary region A equals the area of the minimal surface in the bulk that hangs from A's edge.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Entanglement on one side is literally a geometric quantity on the other. This is the closest thing to a proof of principle that ER = EPR is pointing at something real.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11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Einstein–Rosen bridge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wormhole is not science fiction here — it is a feature of the maximally extended Schwarzschild solution, known since 1935.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3454298" cy="1877568"/>
          </a:xfrm>
          <a:prstGeom prst="roundRect">
            <a:avLst>
              <a:gd name="adj" fmla="val 243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505456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exteriors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27248"/>
            <a:ext cx="290565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solution has two asymptotically flat regions joined through the interior. Each has its own boundary.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8698" y="2212848"/>
            <a:ext cx="3454298" cy="1877568"/>
          </a:xfrm>
          <a:prstGeom prst="roundRect">
            <a:avLst>
              <a:gd name="adj" fmla="val 2435"/>
            </a:avLst>
          </a:prstGeom>
          <a:solidFill>
            <a:srgbClr val="F7EEDF"/>
          </a:solidFill>
          <a:ln w="12700">
            <a:solidFill>
              <a:srgbClr val="F7EE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43018" y="2505456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Non-traversable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643018" y="3127248"/>
            <a:ext cx="290565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pinches off faster than light can cross. Nothing and no one can use it to send a signal.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97317" y="2212848"/>
            <a:ext cx="3454298" cy="1877568"/>
          </a:xfrm>
          <a:prstGeom prst="roundRect">
            <a:avLst>
              <a:gd name="adj" fmla="val 243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71637" y="2505456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puzzle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371637" y="3127248"/>
            <a:ext cx="290565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is it FOR? A geometric structure that connects two regions but permits no communication is a strange thing to have in a theory.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Non-traversability is essential, not a defect: entanglement also cannot transmit information. The two facts match, and that match is a large part of the motivation for ER = EPR.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926080"/>
            <a:ext cx="5852160" cy="5852160"/>
          </a:xfrm>
          <a:prstGeom prst="ellipse">
            <a:avLst/>
          </a:prstGeom>
          <a:solidFill>
            <a:srgbClr val="1B2A4A">
              <a:alpha val="60000"/>
            </a:srgbClr>
          </a:solidFill>
          <a:ln w="12700">
            <a:solidFill>
              <a:srgbClr val="1B2A4A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1280160"/>
            <a:ext cx="4206240" cy="4206240"/>
          </a:xfrm>
          <a:prstGeom prst="ellipse">
            <a:avLst/>
          </a:prstGeom>
          <a:solidFill>
            <a:srgbClr val="24406B">
              <a:alpha val="50000"/>
            </a:srgbClr>
          </a:solidFill>
          <a:ln w="12700">
            <a:solidFill>
              <a:srgbClr val="24406B">
                <a:alpha val="5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71600" y="17373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spc="4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12  ·  THE CONJECTURE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22402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= EPR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5394960" y="4315968"/>
            <a:ext cx="1371600" cy="0"/>
          </a:xfrm>
          <a:prstGeom prst="line">
            <a:avLst/>
          </a:prstGeom>
          <a:noFill/>
          <a:ln w="25400">
            <a:solidFill>
              <a:srgbClr val="E9A1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94560" y="459028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Maldacena and Susskind, 2013: the Einstein–Rosen bridge and the Einstein–Podolsky–Rosen pair are the same phenomenon in two languages. Entanglement between two systems IS a geometric connection between them. Two entangled black holes are connected by a wormhole; and, in the strongest reading, so is every entangled pair.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13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count as evidence?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conjecture is not a theorem. Testing it requires a quantity computable on both sides that could, in principle, disagree.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5349240" cy="3151632"/>
          </a:xfrm>
          <a:prstGeom prst="roundRect">
            <a:avLst>
              <a:gd name="adj" fmla="val 1451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tests already exist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54096"/>
            <a:ext cx="4709160" cy="205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relates one number on each side — entropy and area — and it works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forbid signalling, and both scale correctly with the amount of entanglement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matching a single scalar is a low bar: many wrong theories match one number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212848"/>
            <a:ext cx="5349240" cy="3151632"/>
          </a:xfrm>
          <a:prstGeom prst="roundRect">
            <a:avLst>
              <a:gd name="adj" fmla="val 145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want instead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054096"/>
            <a:ext cx="4709160" cy="205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invariant, not a scalar — something with many independent components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Computable from raw data on both sides, with no shared inputs between them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under relabelling, since the two sides have no canonical common labelling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Falsifiable: it must be able to come out different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homology is a candidate that satisfies the first three. Whether it satisfies the fourth, in this construction, is what this project ends up answering.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14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worth doing at 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454298" cy="1847088"/>
          </a:xfrm>
          <a:prstGeom prst="roundRect">
            <a:avLst>
              <a:gd name="adj" fmla="val 247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645920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1935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414016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Einstein–Rosen bridge and the EPR paper — same year, same author, apparently unrelated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68698" y="1371600"/>
            <a:ext cx="3454298" cy="1847088"/>
          </a:xfrm>
          <a:prstGeom prst="roundRect">
            <a:avLst>
              <a:gd name="adj" fmla="val 247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24730" y="1645920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2013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624730" y="2414016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Maldacena and Susskind propose that the two papers describe one thing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7317" y="1371600"/>
            <a:ext cx="3454298" cy="1847088"/>
          </a:xfrm>
          <a:prstGeom prst="roundRect">
            <a:avLst>
              <a:gd name="adj" fmla="val 247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3349" y="1645920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8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353349" y="2414016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topological invariants previously applied to the correspondence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493008"/>
            <a:ext cx="10911535" cy="2244425"/>
          </a:xfrm>
          <a:prstGeom prst="roundRect">
            <a:avLst>
              <a:gd name="adj" fmla="val 2037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3730752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this project addresses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206240"/>
            <a:ext cx="10180015" cy="1375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tests compare scalars — an entropy against an area, one number against one number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homology produces a barcode: a multi-component invariant with a natural metric between instances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relabelling-invariant, which matters because fermion flavour indices and bulk coordinates have no canonical correspondence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is falsifiable in a way a single-scalar match is not — or so we assumed at the outset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377440"/>
            <a:ext cx="5669280" cy="5669280"/>
          </a:xfrm>
          <a:prstGeom prst="ellipse">
            <a:avLst/>
          </a:prstGeom>
          <a:solidFill>
            <a:srgbClr val="1B2A4A">
              <a:alpha val="65000"/>
            </a:srgbClr>
          </a:solidFill>
          <a:ln w="12700">
            <a:solidFill>
              <a:srgbClr val="1B2A4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60604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topology toolkit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“shape” as an intuition to a computable, stable, relabelling-invariant number.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Topology studies what survives deformation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cares about distances and angles. Topology cares only about connectivity — what is joined to what, and what holes are present. Stretching is allowed; tearing and gluing are not.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3454298" cy="1877568"/>
          </a:xfrm>
          <a:prstGeom prst="roundRect">
            <a:avLst>
              <a:gd name="adj" fmla="val 243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505456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27248"/>
            <a:ext cx="290565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coffee cup and a doughnut. Both are surfaces with exactly one hole; one can be deformed continuously into the other.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8698" y="2212848"/>
            <a:ext cx="3454298" cy="1877568"/>
          </a:xfrm>
          <a:prstGeom prst="roundRect">
            <a:avLst>
              <a:gd name="adj" fmla="val 2435"/>
            </a:avLst>
          </a:prstGeom>
          <a:solidFill>
            <a:srgbClr val="F7EEDF"/>
          </a:solidFill>
          <a:ln w="12700">
            <a:solidFill>
              <a:srgbClr val="F7EE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43018" y="2505456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643018" y="3127248"/>
            <a:ext cx="290565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sphere and a doughnut. No continuous deformation creates or destroys a hole, so no deformation relates them.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97317" y="2212848"/>
            <a:ext cx="3454298" cy="1877568"/>
          </a:xfrm>
          <a:prstGeom prst="roundRect">
            <a:avLst>
              <a:gd name="adj" fmla="val 2435"/>
            </a:avLst>
          </a:prstGeom>
          <a:solidFill>
            <a:srgbClr val="EAF3EF"/>
          </a:solidFill>
          <a:ln w="12700">
            <a:solidFill>
              <a:srgbClr val="EAF3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71637" y="2505456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payoff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371637" y="3127248"/>
            <a:ext cx="290565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invariant that ignores deformation ignores exactly the arbitrary choices — units, labelling, smooth distortion — that plague cross-system comparison.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shape: point clouds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data does not arrive as a surface. It arrives as a finite set of points with a notion of distance between them. Topology has to be built on top of that.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2522144" cy="263956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87168"/>
            <a:ext cx="402336" cy="402336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points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75888"/>
            <a:ext cx="1973504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finite index set. For us: fermion flavours, or positions on a thermal circle, or moments in Euclidean time.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36544" y="2212848"/>
            <a:ext cx="2522144" cy="263956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10864" y="2487168"/>
            <a:ext cx="402336" cy="402336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10864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710864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distance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3710864" y="3675888"/>
            <a:ext cx="1973504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symmetric matrix D with zero diagonal. It need not satisfy the triangle inequality for what follows to work.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33008" y="2212848"/>
            <a:ext cx="2522144" cy="263956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7328" y="2487168"/>
            <a:ext cx="402336" cy="402336"/>
          </a:xfrm>
          <a:prstGeom prst="ellipse">
            <a:avLst/>
          </a:prstGeom>
          <a:solidFill>
            <a:srgbClr val="C057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7328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07328" y="3675888"/>
            <a:ext cx="1973504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finite set of points is topologically trivial — it is just isolated dots. All the structure is in the distances, not the points.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29471" y="2212848"/>
            <a:ext cx="2522144" cy="263956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03791" y="2487168"/>
            <a:ext cx="402336" cy="402336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03791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303791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9303791" y="3675888"/>
            <a:ext cx="1973504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Thicken the points into overlapping blobs and study the shape of the union. Now there is real topology to measure.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Simplicial complexes: shapes built from pieces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work with continuous blobs, we build a combinatorial object out of vertices, edges, triangles, tetrahedra, and their higher analogues. A k-simplex is the filled convex hull of k+1 points.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1051560"/>
          </a:xfrm>
          <a:prstGeom prst="roundRect">
            <a:avLst>
              <a:gd name="adj" fmla="val 4348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9456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= [v₀ , v₁ , … , vₖ]        every face of σ is also in the complex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2522144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776472"/>
            <a:ext cx="201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0-simplex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233672"/>
            <a:ext cx="2010080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vertex. A single point of the data set.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36544" y="3538728"/>
            <a:ext cx="2522144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92576" y="3776472"/>
            <a:ext cx="201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1-simplex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3692576" y="4233672"/>
            <a:ext cx="2010080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edge joining two vertices — recorded when the two points are close enough.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33008" y="3538728"/>
            <a:ext cx="2522144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89040" y="3776472"/>
            <a:ext cx="201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2-simplex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89040" y="4233672"/>
            <a:ext cx="2010080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filled triangle. Crucially FILLED: this is what lets a loop die.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29471" y="3538728"/>
            <a:ext cx="2522144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5503" y="3776472"/>
            <a:ext cx="201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9285503" y="4233672"/>
            <a:ext cx="2010080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under faces. If a triangle is present, all three of its edges must be too.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boundary operator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Homology is linear algebra on simplices. Take formal sums of k-simplices (chains) and define a map that sends each simplex to its oriented boundary.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1572768"/>
          </a:xfrm>
          <a:prstGeom prst="roundRect">
            <a:avLst>
              <a:gd name="adj" fmla="val 2907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487168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∂ₖ [v₀ … vₖ]  =  Σᵢ (−1)ⁱ [v₀ … v̂ᵢ … vₖ]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035808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single fact everything rests on:      ∂ₖ₋₁ ∘ ∂ₖ  =  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059936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4297680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4754880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Zₖ = ker ∂ₖ. Chains with no boundary — closed loops, closed surfaces. Candidate holes.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8698" y="4059936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24730" y="4297680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Boundaries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24730" y="4754880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Bₖ = im ∂ₖ₊₁. Cycles that are already the edge of something filled in — not real holes.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7317" y="4059936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3349" y="4297680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∂∂ = 0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353349" y="4754880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of a boundary is empty: a disc's edge is a loop, and a loop has no endpoints. So Bₖ ⊆ Zₖ always.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Homology: cycles that are not boundaries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hole is a cycle that is not filled in. The k-th homology group is the quotient of one by the other, and its dimension counts the independent holes.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1051560"/>
          </a:xfrm>
          <a:prstGeom prst="roundRect">
            <a:avLst>
              <a:gd name="adj" fmla="val 4348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9456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Hₖ  =  Zₖ / Bₖ  =  ker ∂ₖ / im ∂ₖ₊₁          βₖ = dim Hₖ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H₀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components. β₀ = 3 means the object falls into three separate pieces.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4730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H₁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624730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Loops. β₁ = 1 for a circle or an annulus; β₁ = 2 for a figure-eight or a two-holed torus.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7317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3349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H₂ and up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53349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Voids. A hollow sphere has β₂ = 1. Our computations stop at H₁ — maxdim = 1.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Betti numbers are the crude summary; the whole vector space, and how it changes with scale, is what persistence actually tracks.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a single scale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complex from a point cloud we must decide when two points count as “close.” Any single choice throws away most of the information.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5349240" cy="2198340"/>
          </a:xfrm>
          <a:prstGeom prst="roundRect">
            <a:avLst>
              <a:gd name="adj" fmla="val 208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too small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54096"/>
            <a:ext cx="4709160" cy="1101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edges form. The complex is just isolated vertices: β₀ = number of points, β₁ = 0.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looks disconnected, whatever the underlying structure.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2212848"/>
            <a:ext cx="5349240" cy="2198340"/>
          </a:xfrm>
          <a:prstGeom prst="roundRect">
            <a:avLst>
              <a:gd name="adj" fmla="val 2080"/>
            </a:avLst>
          </a:prstGeom>
          <a:solidFill>
            <a:srgbClr val="F7EEDF"/>
          </a:solidFill>
          <a:ln w="12700">
            <a:solidFill>
              <a:srgbClr val="F7EE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too large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054096"/>
            <a:ext cx="4709160" cy="1101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pair is joined. The complex is one giant filled simplex, which is contractible: β₀ = 1, β₁ = 0.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looks like a single blob, whatever the underlying structure.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these extremes real features appear and vanish. Choosing one threshold means choosing which features to see — an arbitrary decision with no principled answer. Persistence removes the choice entirely.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Filtration: use every scale at once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picking one threshold, build the complex at every threshold and record the nested sequence. Nothing is ever removed as the scale grows.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1051560"/>
          </a:xfrm>
          <a:prstGeom prst="roundRect">
            <a:avLst>
              <a:gd name="adj" fmla="val 4348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9456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K(t₀)  ⊆  K(t₁)  ⊆  K(t₂)  ⊆  …  ⊆  K(tₘ)          t₀ &lt; t₁ &lt; … &lt; tₘ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Monotone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Simplices only ever get added. Each K(t) contains all earlier ones, so the inclusions are genuine maps.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4730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Finite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624730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finite data only finitely many thresholds change anything — the distinct entries of D. The sequence is finite.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7317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3349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Functorial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53349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homology to the inclusions gives linear maps between vector spaces. That structure is the whole subject.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8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Vietoris–Rips complex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filtration we use. It is defined purely from the distance matrix, needs no ambient space, and is the standard choice for abstract point clouds.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1051560"/>
          </a:xfrm>
          <a:prstGeom prst="roundRect">
            <a:avLst>
              <a:gd name="adj" fmla="val 4348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9456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VR(t)  =  { σ ⊆ X   :   d(u,v) ≤ t   for all  u, v ∈ σ }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3454298" cy="1751990"/>
          </a:xfrm>
          <a:prstGeom prst="roundRect">
            <a:avLst>
              <a:gd name="adj" fmla="val 261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it plainly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233672"/>
            <a:ext cx="2942234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 simplex exactly when every pair of its vertices is within t of each other. A clique in the distance graph becomes a filled simplex.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3538728"/>
            <a:ext cx="3454298" cy="1751990"/>
          </a:xfrm>
          <a:prstGeom prst="roundRect">
            <a:avLst>
              <a:gd name="adj" fmla="val 261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4730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one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624730" y="4233672"/>
            <a:ext cx="2942234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depends only on D. No coordinates, no embedding, no ambient geometry — which is essential when comparing two systems with incompatible descriptions.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7317" y="3538728"/>
            <a:ext cx="3454298" cy="1751990"/>
          </a:xfrm>
          <a:prstGeom prst="roundRect">
            <a:avLst>
              <a:gd name="adj" fmla="val 261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3349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Consequence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53349" y="4233672"/>
            <a:ext cx="2942234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is determined entirely by the ORDER in which pairs cross the threshold. Two distance matrices with the same edge ordering give identical filtrations.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last point is not a footnote. It becomes the load-bearing step of this project's main theorem.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9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Persistence: features are born and they die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each homology class through the filtration. Every feature appears at some scale and disappears at a later 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911535" cy="756666"/>
          </a:xfrm>
          <a:prstGeom prst="roundRect">
            <a:avLst>
              <a:gd name="adj" fmla="val 6042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316861"/>
            <a:ext cx="420624" cy="420624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9536" y="231686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261997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Birth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545461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at which a new independent class first appears — a component separates out, or a loop closes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015234"/>
            <a:ext cx="10911535" cy="756666"/>
          </a:xfrm>
          <a:prstGeom prst="roundRect">
            <a:avLst>
              <a:gd name="adj" fmla="val 6042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3183255"/>
            <a:ext cx="420624" cy="420624"/>
          </a:xfrm>
          <a:prstGeom prst="ellipse">
            <a:avLst/>
          </a:prstGeom>
          <a:solidFill>
            <a:srgbClr val="C057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9536" y="318325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3128391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Death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3411855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at which it merges into an older class, or gets filled in and stops being a hole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881628"/>
            <a:ext cx="10911535" cy="756666"/>
          </a:xfrm>
          <a:prstGeom prst="roundRect">
            <a:avLst>
              <a:gd name="adj" fmla="val 6042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" y="4049649"/>
            <a:ext cx="420624" cy="420624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9536" y="404964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3994785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4278249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− birth. Long bars are robust structure; short bars are usually sampling noise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748022"/>
            <a:ext cx="10911535" cy="756666"/>
          </a:xfrm>
          <a:prstGeom prst="roundRect">
            <a:avLst>
              <a:gd name="adj" fmla="val 6042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" y="4916043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9536" y="491604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481328" y="4861179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 classes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1481328" y="5144643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that never die. In H₀ there is always exactly one — the final connected component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elder rule breaks ties: when two components merge, the younger one dies and the older survives.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10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barcode and the persistence diagram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equivalent pictures of the same data — the complete output of a persistent homology computation.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5349240" cy="2986065"/>
          </a:xfrm>
          <a:prstGeom prst="roundRect">
            <a:avLst>
              <a:gd name="adj" fmla="val 1531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Barcode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54096"/>
            <a:ext cx="4709160" cy="188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horizontal bar per feature, running from its birth to its death, stacked vertically.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left to right and you watch the topology evolve. Long bars stand out visually as the real structure.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barcode per homology degree: an H₀ barcode and an H₁ barcode.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2212848"/>
            <a:ext cx="5349240" cy="2986065"/>
          </a:xfrm>
          <a:prstGeom prst="roundRect">
            <a:avLst>
              <a:gd name="adj" fmla="val 153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 diagram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054096"/>
            <a:ext cx="4709160" cy="188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information as a multiset of points (birth, death) in the plane.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lies above the diagonal, since death always exceeds birth. Points far from the diagonal are persistent features; points hugging it are noise.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form used for computing distances — and it is what ripser returns.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 the diagram form matters more: the metric between barcodes is defined by matching points between two diagrams.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11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 modules are functors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categorical statement, which is where this project's final theorem lives. A persistence module assigns a vector space to every scale and a linear map to every increase of scale.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1051560"/>
          </a:xfrm>
          <a:prstGeom prst="roundRect">
            <a:avLst>
              <a:gd name="adj" fmla="val 4348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9456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:  ( ℝ≥₀ , ≤ )  ⟶  Vectₖ          M(s) → M(t)  for every  s ≤ 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3454298" cy="1751990"/>
          </a:xfrm>
          <a:prstGeom prst="roundRect">
            <a:avLst>
              <a:gd name="adj" fmla="val 261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index category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233672"/>
            <a:ext cx="2942234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numbers as a poset: objects are scales, and there is one arrow s → t whenever s ≤ 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3538728"/>
            <a:ext cx="3454298" cy="1751990"/>
          </a:xfrm>
          <a:prstGeom prst="roundRect">
            <a:avLst>
              <a:gd name="adj" fmla="val 261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4730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functor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624730" y="4233672"/>
            <a:ext cx="2942234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Hₖ to a filtration gives exactly this. Functoriality is automatic — it is inherited from the inclusions.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7317" y="3538728"/>
            <a:ext cx="3454298" cy="1751990"/>
          </a:xfrm>
          <a:prstGeom prst="roundRect">
            <a:avLst>
              <a:gd name="adj" fmla="val 261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3349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morphisms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53349" y="4233672"/>
            <a:ext cx="2942234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of persistence modules IS a natural transformation. Naturality is not an extra condition to verify; it is the definition of the arrow.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project's central object φ is called a natural transformation, and why proving naturality separately would be redundant.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12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structure theorem for persistence modules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that makes barcodes meaningful rather than merely suggestive. Under mild finiteness, a persistence module decomposes uniquely into intervals.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1051560"/>
          </a:xfrm>
          <a:prstGeom prst="roundRect">
            <a:avLst>
              <a:gd name="adj" fmla="val 4348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9456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 ≅  ⊕ⱼ  I [ bⱼ , dⱼ 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Pointwise finite-dimensional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M(t) is finite-dimensional. Automatic for a finite complex — which ours always is.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4730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Existence and uniqueness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624730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Crawley-Boevey: the decomposition exists and the multiset of intervals is unique. That multiset IS the barcode.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7317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3349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corollary we need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53349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persistence modules are isomorphic if and only if their barcodes are equal. Comparing barcodes is comparing modules.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bridge between the computation and the categorical claim: an equality of barcodes is literally an isomorphism of modules.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13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metric: Wasserstein distance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compare two barcodes we need a distance. Match the points of one diagram to the other, allowing any unmatched point to be sent to the diagonal, and take the cheapest matching.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1051560"/>
          </a:xfrm>
          <a:prstGeom prst="roundRect">
            <a:avLst>
              <a:gd name="adj" fmla="val 4348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9456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Wₚ ( X , Y )  =  ( infᵧ  Σₓ ‖ x − γ(x) ‖^p )^(1/p)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to the diagonal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with no partner is matched to its nearest diagonal point — the correct cost for “this feature simply is not there.”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4730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conventions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624730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persim library uses p = 1 with a Euclidean ground metric. We verified this from source, and reproduced its outputs by hand.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7317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3349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Bottleneck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53349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 → ∞ limit uses only the single worst-matched pair. More common in the literature; less sensitive for our purposes.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14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Stability: why this is a legitimate measurement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invariant that jumped around under small perturbations would be useless for physics. Persistent homology does not.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3454298" cy="1877568"/>
          </a:xfrm>
          <a:prstGeom prst="roundRect">
            <a:avLst>
              <a:gd name="adj" fmla="val 2435"/>
            </a:avLst>
          </a:prstGeom>
          <a:solidFill>
            <a:srgbClr val="EAF3EF"/>
          </a:solidFill>
          <a:ln w="12700">
            <a:solidFill>
              <a:srgbClr val="EAF3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505456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stability theorem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27248"/>
            <a:ext cx="290565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Perturbing the input distances by at most ε moves the barcode by at most ε in bottleneck distance. The map from data to barcode is 1-Lipschitz.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8698" y="2212848"/>
            <a:ext cx="3454298" cy="1877568"/>
          </a:xfrm>
          <a:prstGeom prst="roundRect">
            <a:avLst>
              <a:gd name="adj" fmla="val 243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43018" y="2505456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buys us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643018" y="3127248"/>
            <a:ext cx="290565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sampling, floating-point error, and disorder realisations shift the barcode by a bounded, controlled amount rather than arbitrarily.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97317" y="2212848"/>
            <a:ext cx="3454298" cy="1877568"/>
          </a:xfrm>
          <a:prstGeom prst="roundRect">
            <a:avLst>
              <a:gd name="adj" fmla="val 2435"/>
            </a:avLst>
          </a:prstGeom>
          <a:solidFill>
            <a:srgbClr val="F7EEDF"/>
          </a:solidFill>
          <a:ln w="12700">
            <a:solidFill>
              <a:srgbClr val="F7EE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71637" y="2505456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limit of it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371637" y="3127248"/>
            <a:ext cx="290565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bounds how much the barcode CAN move. It says nothing about whether the barcode carries the information you care about.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last caveat is the one this project ran into: a perfectly stable invariant can still be a lossy one.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15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persistent homology for THIS problem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properties, each of which is required by the comparison we want to make.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2522144" cy="285292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87168"/>
            <a:ext cx="402336" cy="402336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Relabelling-invariant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75888"/>
            <a:ext cx="19735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barcode does not depend on the order of the points. Essential, because fermion labels and bulk coordinates have no canonical correspondence.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36544" y="2212848"/>
            <a:ext cx="2522144" cy="285292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10864" y="2487168"/>
            <a:ext cx="402336" cy="402336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10864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710864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Coordinate-free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3710864" y="3675888"/>
            <a:ext cx="19735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Vietoris–Rips needs only a distance matrix. Neither side must be embedded in a shared space.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33008" y="2212848"/>
            <a:ext cx="2522144" cy="285292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7328" y="2487168"/>
            <a:ext cx="402336" cy="402336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7328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07328" y="3675888"/>
            <a:ext cx="19735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barcode has many components, unlike a single entropy or area. In principle it can disagree in many independent ways.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29471" y="2212848"/>
            <a:ext cx="2522144" cy="285292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03791" y="2487168"/>
            <a:ext cx="402336" cy="402336"/>
          </a:xfrm>
          <a:prstGeom prst="ellipse">
            <a:avLst/>
          </a:prstGeom>
          <a:solidFill>
            <a:srgbClr val="C057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03791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303791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 a metric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9303791" y="3675888"/>
            <a:ext cx="19735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Wasserstein makes “how different” quantitative, so agreement is a measured number rather than an impression.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3 is the one that will require re-examination. Having many components in principle is not the same as having many independent components in a given construction.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16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theorem we will need: Adamaszek–Adams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Vietoris–Rips complexes of the circle are completely classified. Since our filtration lives on a discretised thermal circle, this result determines our barcodes outright.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1572768"/>
          </a:xfrm>
          <a:prstGeom prst="roundRect">
            <a:avLst>
              <a:gd name="adj" fmla="val 2907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487168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 ( Cₙᵏ )  ≃  S^(2l+1)     for   l/(2l+1)  &lt;  k/n  &lt;  (l+1)/(2l+3)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035808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≃  ⋁ (n − 2k − 1) copies of S^(2l)     at    k/n  =  l/(2l+1)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059936"/>
            <a:ext cx="3454298" cy="1426464"/>
          </a:xfrm>
          <a:prstGeom prst="roundRect">
            <a:avLst>
              <a:gd name="adj" fmla="val 320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4297680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Cₙᵏ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4754880"/>
            <a:ext cx="29422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circulant graph: n vertices on a cycle, each joined to its k nearest neighbours on either side. Cl is its clique complex.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8698" y="4059936"/>
            <a:ext cx="3454298" cy="1426464"/>
          </a:xfrm>
          <a:prstGeom prst="roundRect">
            <a:avLst>
              <a:gd name="adj" fmla="val 320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24730" y="4297680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applies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24730" y="4754880"/>
            <a:ext cx="29422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circulant distance matrix with a monotone profile produces exactly these graphs, nested, and nothing else.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7317" y="4059936"/>
            <a:ext cx="3454298" cy="1426464"/>
          </a:xfrm>
          <a:prstGeom prst="roundRect">
            <a:avLst>
              <a:gd name="adj" fmla="val 320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3349" y="4297680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consequence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353349" y="4754880"/>
            <a:ext cx="29422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k/n &lt; 1/3 the complex is a circle: one H₁ class. At k/n = 1/3 it becomes a wedge of 2-spheres and H₁ dies.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the source paper (arXiv:1503.03669, Theorem 4.3) rather than quoted from memory.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E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377440"/>
            <a:ext cx="5669280" cy="5669280"/>
          </a:xfrm>
          <a:prstGeom prst="ellipse">
            <a:avLst/>
          </a:prstGeom>
          <a:solidFill>
            <a:srgbClr val="1B2A4A">
              <a:alpha val="65000"/>
            </a:srgbClr>
          </a:solidFill>
          <a:ln w="12700">
            <a:solidFill>
              <a:srgbClr val="1B2A4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60604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systems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model, a gravity theory, and the dictionary that is supposed to join them.</a:t>
            </a:r>
            <a:endParaRPr lang="en-US" sz="14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Majorana fermions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degrees of freedom of the SYK model. A Majorana fermion is its own antiparticle — formally, a Hermitian operator obeying a Clifford algebra.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1051560"/>
          </a:xfrm>
          <a:prstGeom prst="roundRect">
            <a:avLst>
              <a:gd name="adj" fmla="val 4348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9456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 χᵢ , χⱼ }  =  δᵢⱼ · I          χᵢ† = χᵢ          χᵢ² = ½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Jordan–Wigner: pair them up and write each as a Pauli string, Z⊗…⊗Z⊗X⊗I⊗… The Z tail enforces anticommutation across sites.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4730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Hilbert space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624730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Majoranas need 2^(N/2) dimensions. N = 18 gives 512 — which is why exact diagonalisation stops where it does.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7317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3349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normalisation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53349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√2 in the construction gives χ² = ½, matching the Maldacena–Stanford convention. Verified to 2×10⁻¹⁶.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exponential cost of exact diagonalisation is the hard ceiling on this entire project: N ≤ 18 is a computational fact, not a choice.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SYK model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Majorana fermions with all-to-all random four-body interactions. No spatial structure, no lattice — just disorder and interaction.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1572768"/>
          </a:xfrm>
          <a:prstGeom prst="roundRect">
            <a:avLst>
              <a:gd name="adj" fmla="val 2907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487168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 =  Σ (i&lt;j&lt;k&lt;l)   Jᵢⱼₖₗ  χᵢ χⱼ χₖ χₗ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035808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Jᵢⱼₖₗ  drawn Gaussian,  mean 0,   variance  6 J² / N³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059936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4297680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Quenched disorder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4754880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Couplings are drawn once per realisation and held fixed. We average observables over 10 seeded realisations per 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8698" y="4059936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24730" y="4297680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variance scaling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24730" y="4754880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6J²/N³ is the unique scaling that keeps the energy per fermion finite as N grows. It is MS eq 2.3 at q = 4.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7317" y="4059936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3349" y="4297680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Hermiticity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353349" y="4754880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Reversing four Majoranas costs (−1)⁶ = +1, so H is Hermitian with no explicit factor of i. At q = 2 it would need one.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SYK is the right laboratory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quantum many-body models, SYK is the one with the cleanest claimed gravity dual.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2522144" cy="263956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87168"/>
            <a:ext cx="402336" cy="402336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Solvable at large N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75888"/>
            <a:ext cx="1973504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disorder average makes a specific class of diagrams dominate, giving closed-form equations for the correlator in the N → ∞ limit.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36544" y="2212848"/>
            <a:ext cx="2522144" cy="263956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10864" y="2487168"/>
            <a:ext cx="402336" cy="402336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10864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710864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Maximally chaotic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3710864" y="3675888"/>
            <a:ext cx="1973504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saturates the bound on chaos — the same bound that black holes saturate. A strong hint of a gravitational description.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33008" y="2212848"/>
            <a:ext cx="2522144" cy="263956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7328" y="2487168"/>
            <a:ext cx="402336" cy="402336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7328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Emergent symmetry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07328" y="3675888"/>
            <a:ext cx="1973504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low energy it becomes approximately conformal, and the breaking of that symmetry is the entire dynamics.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29471" y="2212848"/>
            <a:ext cx="2522144" cy="263956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03791" y="2487168"/>
            <a:ext cx="402336" cy="402336"/>
          </a:xfrm>
          <a:prstGeom prst="ellipse">
            <a:avLst/>
          </a:prstGeom>
          <a:solidFill>
            <a:srgbClr val="C057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03791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303791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enough to simulate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9303791" y="3675888"/>
            <a:ext cx="1973504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most holographic models, it can be exactly diagonalised at modest N — which makes a numerical test possible at all.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conformal limit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energies far below the coupling J, SYK's two-point function takes a scale-free power-law form. The fermion acquires an anomalous dimension of exactly 1/4 for q = 4.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1572768"/>
          </a:xfrm>
          <a:prstGeom prst="roundRect">
            <a:avLst>
              <a:gd name="adj" fmla="val 2907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487168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G(τ)  ∼  | τ |^(−2Δ)          Δ  =  1/q  =  1/4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035808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thermal circle:      G(τ)  ∝  [ sin(πτ/β) ]^(−2Δ)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059936"/>
            <a:ext cx="3454298" cy="1751990"/>
          </a:xfrm>
          <a:prstGeom prst="roundRect">
            <a:avLst>
              <a:gd name="adj" fmla="val 261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4297680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Reparametrisation symmetry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4754880"/>
            <a:ext cx="2942234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limit the equations are invariant under any smooth relabelling of time — an infinite-dimensional symmetry.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8698" y="4059936"/>
            <a:ext cx="3454298" cy="1751990"/>
          </a:xfrm>
          <a:prstGeom prst="roundRect">
            <a:avLst>
              <a:gd name="adj" fmla="val 261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24730" y="4297680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it is broken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24730" y="4754880"/>
            <a:ext cx="2942234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equations are only approximately conformal. The symmetry is spontaneously and explicitly broken, and that breaking is physical.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7317" y="4059936"/>
            <a:ext cx="3454298" cy="1751990"/>
          </a:xfrm>
          <a:prstGeom prst="roundRect">
            <a:avLst>
              <a:gd name="adj" fmla="val 261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3349" y="4297680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Ĝ(1) = 2.768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353349" y="4754880"/>
            <a:ext cx="2942234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shape gauge applied to this profile at n = 24 gives [sin(π/24)]^(−½) = 2.767905 — a number that becomes decisive.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Schwarzian mode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broken reparametrisation symmetry leaves behind a single soft degree of freedom whose dynamics governs all the low-energy physics.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5349240" cy="2986065"/>
          </a:xfrm>
          <a:prstGeom prst="roundRect">
            <a:avLst>
              <a:gd name="adj" fmla="val 1531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54096"/>
            <a:ext cx="4709160" cy="188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 =  − C ∫ dτ  Sch( f(τ) , τ )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Sch is the Schwarzian derivative of the time reparametrisation f, and C is a coupling with dimensions of length.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leading correction to the conformal answer. Everything about how SYK deviates from a pure power law, at low energy, is encoded in C.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2212848"/>
            <a:ext cx="5349240" cy="2986065"/>
          </a:xfrm>
          <a:prstGeom prst="roundRect">
            <a:avLst>
              <a:gd name="adj" fmla="val 153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the whole story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054096"/>
            <a:ext cx="4709160" cy="188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Schwarzian mode is not one excitation among many — at low energy it is the ONLY one that matters. Its action controls the specific heat, the correlator corrections, and the chaos exponent.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 the gravity side, the identical action arises from the boundary dynamics of JT gravity.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coincidence — the same effective action from a quantum model and from a gravity theory — is the SYK/JT duality.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JT gravity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Jackiw–Teitelboim gravity: two-dimensional gravity with a scalar field. The simplest theory in which black holes and holography both make sense.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3454298" cy="1877568"/>
          </a:xfrm>
          <a:prstGeom prst="roundRect">
            <a:avLst>
              <a:gd name="adj" fmla="val 243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505456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setup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27248"/>
            <a:ext cx="290565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2D the Einstein tensor vanishes identically, so gravity needs help. JT adds a dilaton φ whose equation of motion fixes the geometry to be rigid AdS₂.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8698" y="2212848"/>
            <a:ext cx="3454298" cy="1877568"/>
          </a:xfrm>
          <a:prstGeom prst="roundRect">
            <a:avLst>
              <a:gd name="adj" fmla="val 2435"/>
            </a:avLst>
          </a:prstGeom>
          <a:solidFill>
            <a:srgbClr val="F7EEDF"/>
          </a:solidFill>
          <a:ln w="12700">
            <a:solidFill>
              <a:srgbClr val="F7EE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43018" y="2505456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boundary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643018" y="3127248"/>
            <a:ext cx="290565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bulk geometry is fixed, the only dynamics is in the shape of the boundary curve — and that dynamics is exactly Schwarzian.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97317" y="2212848"/>
            <a:ext cx="3454298" cy="1877568"/>
          </a:xfrm>
          <a:prstGeom prst="roundRect">
            <a:avLst>
              <a:gd name="adj" fmla="val 2435"/>
            </a:avLst>
          </a:prstGeom>
          <a:solidFill>
            <a:srgbClr val="EAF3EF"/>
          </a:solidFill>
          <a:ln w="12700">
            <a:solidFill>
              <a:srgbClr val="EAF3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71637" y="2505456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use of it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371637" y="3127248"/>
            <a:ext cx="290565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an independent, purely gravitational computation of the same two-point function SYK is supposed to produce.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gravity side has no free parameters other than C. That is what makes the comparison a genuine one-parameter test rather than a fit.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eternal black hole is the thermofield double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constructions from Part I meet here: the maximally extended AdS₂ black hole has two boundaries, and the quantum state dual to that geometry is the TFD.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5349240" cy="2511552"/>
          </a:xfrm>
          <a:prstGeom prst="roundRect">
            <a:avLst>
              <a:gd name="adj" fmla="val 182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 side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54096"/>
            <a:ext cx="4709160" cy="141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asymptotic boundaries, left and right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through the interior by an Einstein–Rosen bridge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is non-traversable — no signal crosses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size is controlled by the black hole temperature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212848"/>
            <a:ext cx="5349240" cy="2511552"/>
          </a:xfrm>
          <a:prstGeom prst="roundRect">
            <a:avLst>
              <a:gd name="adj" fmla="val 182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side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054096"/>
            <a:ext cx="4709160" cy="141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copies of SYK, left and right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by entanglement in the state |TFD(β)⟩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operator on one side affects the other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entanglement is controlled by the same β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ER = EPR made completely concrete: one wormhole, one entangled state, one parameter, and a dictionary claiming they are the same object.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8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dictionary: how C relates to 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comparison to be a test rather than a fit, the Schwarzian coupling C must be fixed independently. The large-N literature provides a value.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1051560"/>
          </a:xfrm>
          <a:prstGeom prst="roundRect">
            <a:avLst>
              <a:gd name="adj" fmla="val 4348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9456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( N )  =  α_S · N / 𝒥   =   √2 · α_S · N          α_S ≈ 0.00709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chain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give the specific heat c ≈ 0.396 N / J and the relation c = 4π²α_S N / 𝒥. Inverting gives α_S.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4730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subtlety we caught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624730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𝒥 = J/√2 is NOT the same as J. Confusing them costs a factor of √2 in every C. Resolved at the PDF font level.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7317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3349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Single-source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53349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published q = 4 value of α_S traces back to one fitted number. A declared input may be single-source — but we say so.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dictionary is what Rung 4 ends up falsifying at accessible N — not the duality itself, but this specific parameter correspondence in this specific regime.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9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exact Schwarzian two-point function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Schwarzian theory is exactly solvable. Mertens, Turiaci and Verlinde give the boundary correlator in closed form as a double integral over energy states.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1051560"/>
          </a:xfrm>
          <a:prstGeom prst="roundRect">
            <a:avLst>
              <a:gd name="adj" fmla="val 4348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9456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G(τ) = (1/Z) ∫ dk₁ dk₂  ρ(k₁) ρ(k₂)  e^(−τk₁²/2C − (β−τ)k₂²/2C)  |Γ(Δ + i(k₁+k₂))|² |Γ(Δ + i(k₁−k₂))|² / Γ(2Δ)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ρ(k) = k sinh(2πk)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Schwarzian density of states. Its exponential growth is what makes this a black-hole-like spectrum.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4730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624730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k²/2C. The Boltzmann factors split across the two propagation intervals τ and β−τ.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7317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3349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1/4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53349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dimension, matched to SYK at q = 4. The four Gamma functions are the exact matrix element.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exact, not perturbative — valid at any β/C, which is what allows a comparison outside the semiclassical regime.</a:t>
            </a:r>
            <a:endParaRPr lang="en-US" sz="1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10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it is genuinely hard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failure modes, each found the expensive way, each fixed in the implementation.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911535" cy="603504"/>
          </a:xfrm>
          <a:prstGeom prst="roundRect">
            <a:avLst>
              <a:gd name="adj" fmla="val 7576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240280"/>
            <a:ext cx="420624" cy="420624"/>
          </a:xfrm>
          <a:prstGeom prst="ellipse">
            <a:avLst/>
          </a:prstGeom>
          <a:solidFill>
            <a:srgbClr val="C057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9536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212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Overflow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49631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sinh(2πk) at the saddle overflows float64 by thousands of orders of magnitude — fix: work entirely in log space with max-subtraction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862072"/>
            <a:ext cx="10911535" cy="603504"/>
          </a:xfrm>
          <a:prstGeom prst="roundRect">
            <a:avLst>
              <a:gd name="adj" fmla="val 7576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2953512"/>
            <a:ext cx="420624" cy="420624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9536" y="2953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2926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Coupled variables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3209544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Gammas couple k₁ and k₂ only through their sum and difference — fix: rotate to (s,d) coordinates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575304"/>
            <a:ext cx="10911535" cy="603504"/>
          </a:xfrm>
          <a:prstGeom prst="roundRect">
            <a:avLst>
              <a:gd name="adj" fmla="val 7576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" y="3666744"/>
            <a:ext cx="420624" cy="420624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9536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3639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Jacobian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3922776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dk₁dk₂ = ½ ds dd, so the log-integrand needs −log 2. Omitting it was a real, silent factor-of-two bug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288536"/>
            <a:ext cx="10911535" cy="603504"/>
          </a:xfrm>
          <a:prstGeom prst="roundRect">
            <a:avLst>
              <a:gd name="adj" fmla="val 7576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" y="4379976"/>
            <a:ext cx="420624" cy="420624"/>
          </a:xfrm>
          <a:prstGeom prst="ellipse">
            <a:avLst/>
          </a:prstGeom>
          <a:solidFill>
            <a:srgbClr val="C057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9536" y="4379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481328" y="43525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QUADPACK misses the peak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1481328" y="4636008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large C the integrand is a narrow spike far from the origin, and the quadrature silently reports false convergence — fix: explicit saddle hints on every call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001768"/>
            <a:ext cx="10911535" cy="603504"/>
          </a:xfrm>
          <a:prstGeom prst="roundRect">
            <a:avLst>
              <a:gd name="adj" fmla="val 7576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" y="5093208"/>
            <a:ext cx="420624" cy="420624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59536" y="5093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481328" y="50657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Unverified convergence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1481328" y="5349240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every evaluation runs at two resolutions and self-reports its own relative difference as conv_err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scope: C ≤ 200. Above that the quadrature fails even with hints, and the code raises rather than returning a wrong number.</a:t>
            </a:r>
            <a:endParaRPr lang="en-US" sz="11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E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377440"/>
            <a:ext cx="5669280" cy="5669280"/>
          </a:xfrm>
          <a:prstGeom prst="ellipse">
            <a:avLst/>
          </a:prstGeom>
          <a:solidFill>
            <a:srgbClr val="1B2A4A">
              <a:alpha val="65000"/>
            </a:srgbClr>
          </a:solidFill>
          <a:ln w="12700">
            <a:solidFill>
              <a:srgbClr val="1B2A4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60604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experiment was built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ladder of five rungs, and a discipline for not fooling ourselves.</a:t>
            </a:r>
            <a:endParaRPr lang="en-US" sz="14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E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·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claim, stated precisely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up to here exists so that this sentence can be written down and checked.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1572768"/>
          </a:xfrm>
          <a:prstGeom prst="roundRect">
            <a:avLst>
              <a:gd name="adj" fmla="val 290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487168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 :  PH ( entanglement structure )  ⟶  PH ( dual geometry 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035808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Claim:   φ  is a natural isomorphism of persistence modules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059936"/>
            <a:ext cx="3454298" cy="1751990"/>
          </a:xfrm>
          <a:prstGeom prst="roundRect">
            <a:avLst>
              <a:gd name="adj" fmla="val 261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4297680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must be true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4754880"/>
            <a:ext cx="2942234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barcodes must be equal, since by the structure theorem equal barcodes and isomorphic modules are the same statement.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8698" y="4059936"/>
            <a:ext cx="3454298" cy="1751990"/>
          </a:xfrm>
          <a:prstGeom prst="roundRect">
            <a:avLst>
              <a:gd name="adj" fmla="val 261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24730" y="4297680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fail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24730" y="4754880"/>
            <a:ext cx="2942234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bar counts, different birth/death coordinates, or a φ that cannot be defined at all because the two sides are not comparable.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7317" y="4059936"/>
            <a:ext cx="3454298" cy="1751990"/>
          </a:xfrm>
          <a:prstGeom prst="roundRect">
            <a:avLst>
              <a:gd name="adj" fmla="val 261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3349" y="4297680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measure it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353349" y="4754880"/>
            <a:ext cx="2942234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Wasserstein distance between the diagrams, against mismatched-parameter controls that a true correspondence should beat.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·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rungs, each the smallest informative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740664"/>
          </a:xfrm>
          <a:prstGeom prst="roundRect">
            <a:avLst>
              <a:gd name="adj" fmla="val 6173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531620"/>
            <a:ext cx="420624" cy="420624"/>
          </a:xfrm>
          <a:prstGeom prst="ellipse">
            <a:avLst/>
          </a:prstGeom>
          <a:solidFill>
            <a:srgbClr val="C057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9536" y="15316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4767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Rung 1 · Two entangled qubits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1760220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state against the Ryu–Takayanagi throat — does the machinery run end to end?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221992"/>
            <a:ext cx="10911535" cy="740664"/>
          </a:xfrm>
          <a:prstGeom prst="roundRect">
            <a:avLst>
              <a:gd name="adj" fmla="val 617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2382012"/>
            <a:ext cx="420624" cy="420624"/>
          </a:xfrm>
          <a:prstGeom prst="ellipse">
            <a:avLst/>
          </a:prstGeom>
          <a:solidFill>
            <a:srgbClr val="C057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9536" y="23820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23271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Rung 2 · Thermofield double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261061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comparison across a full temperature sweep — does it hold at every β?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072384"/>
            <a:ext cx="10911535" cy="740664"/>
          </a:xfrm>
          <a:prstGeom prst="roundRect">
            <a:avLst>
              <a:gd name="adj" fmla="val 6173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" y="3232404"/>
            <a:ext cx="420624" cy="420624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9536" y="32324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31775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Rung 3 · SYK against JT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3461004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many-body entanglement against real bulk geometry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922776"/>
            <a:ext cx="10911535" cy="740664"/>
          </a:xfrm>
          <a:prstGeom prst="roundRect">
            <a:avLst>
              <a:gd name="adj" fmla="val 617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" y="4082796"/>
            <a:ext cx="420624" cy="420624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9536" y="40827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40279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Rung 4 · Finite 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481328" y="4311396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correspondence break, and does it break the way quantum corrections predict?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773168"/>
            <a:ext cx="10911535" cy="740664"/>
          </a:xfrm>
          <a:prstGeom prst="roundRect">
            <a:avLst>
              <a:gd name="adj" fmla="val 6173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9536" y="4933188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59536" y="49331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481328" y="48783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Rung 5 · The theorem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481328" y="5161788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φ explicitly and prove — or disprove — that it is a natural isomorphism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Rungs 1–2 are toy models by design. Their purpose is to validate the pipeline before it is pointed at anything expensive.</a:t>
            </a:r>
            <a:endParaRPr lang="en-US" sz="11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·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discipline: how not to fool ourselves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risk in a project like this is not a coding error. It is producing agreement that was guaranteed by the construction and reading it as evidence.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2522144" cy="263956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87168"/>
            <a:ext cx="402336" cy="402336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Pre-registration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75888"/>
            <a:ext cx="1973504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success criterion is written down before the comparison runs. No adjusting the target after seeing the data.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36544" y="2212848"/>
            <a:ext cx="2522144" cy="263956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10864" y="2487168"/>
            <a:ext cx="402336" cy="402336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10864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710864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Mismatched controls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3710864" y="3675888"/>
            <a:ext cx="1973504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comparison also runs against deliberately wrong parameters — C×5 and C÷5. The dictionary must beat both to count.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33008" y="2212848"/>
            <a:ext cx="2522144" cy="263956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7328" y="2487168"/>
            <a:ext cx="402336" cy="402336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7328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Staged gates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07328" y="3675888"/>
            <a:ext cx="1973504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validity checks run first and can stop the project. Expensive computation only proceeds past a passed gate.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29471" y="2212848"/>
            <a:ext cx="2522144" cy="263956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03791" y="2487168"/>
            <a:ext cx="402336" cy="402336"/>
          </a:xfrm>
          <a:prstGeom prst="ellipse">
            <a:avLst/>
          </a:prstGeom>
          <a:solidFill>
            <a:srgbClr val="C057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03791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303791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Show, do not assert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9303791" y="3675888"/>
            <a:ext cx="1973504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claims must be accompanied by the numbers. An assertion that a quantity converged is not a convergence check.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consistently, this discipline is what turns a negative result into a publishable one rather than an inconclusive one.</a:t>
            </a:r>
            <a:endParaRPr lang="en-US" sz="11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E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926080"/>
            <a:ext cx="5852160" cy="5852160"/>
          </a:xfrm>
          <a:prstGeom prst="ellipse">
            <a:avLst/>
          </a:prstGeom>
          <a:solidFill>
            <a:srgbClr val="1B2A4A">
              <a:alpha val="60000"/>
            </a:srgbClr>
          </a:solidFill>
          <a:ln w="12700">
            <a:solidFill>
              <a:srgbClr val="1B2A4A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1280160"/>
            <a:ext cx="4206240" cy="4206240"/>
          </a:xfrm>
          <a:prstGeom prst="ellipse">
            <a:avLst/>
          </a:prstGeom>
          <a:solidFill>
            <a:srgbClr val="24406B">
              <a:alpha val="50000"/>
            </a:srgbClr>
          </a:solidFill>
          <a:ln w="12700">
            <a:solidFill>
              <a:srgbClr val="24406B">
                <a:alpha val="5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71600" y="17373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spc="4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· 4  ·  THE GOVERNING PRINCIPLE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22402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Agreement is evidence only when</a:t>
            </a:r>
            <a:endParaRPr lang="en-US" sz="32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agreeing things are independent.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394960" y="4315968"/>
            <a:ext cx="1371600" cy="0"/>
          </a:xfrm>
          <a:prstGeom prst="line">
            <a:avLst/>
          </a:prstGeom>
          <a:noFill/>
          <a:ln w="25400">
            <a:solidFill>
              <a:srgbClr val="E9A1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94560" y="459028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sentence catches every failure mode the project encountered: the Rung 1 tautology, the shared-Jacobian cross-check, the circular α_S confirmation, and finally the two-scalar collapse of Rung 4. Each was a case of two quantities agreeing because they were constructed from the same input.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E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377440"/>
            <a:ext cx="5669280" cy="5669280"/>
          </a:xfrm>
          <a:prstGeom prst="ellipse">
            <a:avLst/>
          </a:prstGeom>
          <a:solidFill>
            <a:srgbClr val="1B2A4A">
              <a:alpha val="65000"/>
            </a:srgbClr>
          </a:solidFill>
          <a:ln w="12700">
            <a:solidFill>
              <a:srgbClr val="1B2A4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60604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Rungs 1 and 2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machinery works end to end. Understanding why that is not yet physics.</a:t>
            </a:r>
            <a:endParaRPr lang="en-US" sz="14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·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Rung 1: the construction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entangled qubits on the EPR side, the Ryu–Takayanagi throat on the ER side, and an explicit map between their barcodes.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5349240" cy="2842260"/>
          </a:xfrm>
          <a:prstGeom prst="roundRect">
            <a:avLst>
              <a:gd name="adj" fmla="val 1609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EPR side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54096"/>
            <a:ext cx="4709160" cy="174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the Bell pair |Φ⁺⟩ = (|00⟩ + |11⟩)/√2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state ρ_A = I/2, so S(A) = log 2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 I(A:B) = 2 log 2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between the two qubits: d = 1 / I(A:B) = 0.7213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Vietoris–Rips on a 2×2 matrix → one finite H₀ bar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212848"/>
            <a:ext cx="5349240" cy="2842260"/>
          </a:xfrm>
          <a:prstGeom prst="roundRect">
            <a:avLst>
              <a:gd name="adj" fmla="val 160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side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054096"/>
            <a:ext cx="4709160" cy="174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Ryu–Takayanagi in units where 4Għ = 1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Throat length ℓ = S(A) = log 2 = 0.6931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between the two throat endpoints: ℓ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Vietoris–Rips on a 2×2 matrix → one finite H₀ bar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defined as the rescaling ℓ / d = 2(log 2)²</a:t>
            </a:r>
            <a:endParaRPr lang="en-US" sz="12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·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Rung 1: the result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454298" cy="1847088"/>
          </a:xfrm>
          <a:prstGeom prst="roundRect">
            <a:avLst>
              <a:gd name="adj" fmla="val 247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645920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8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414016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Wasserstein distance between the barcodes after applying 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68698" y="1371600"/>
            <a:ext cx="3454298" cy="1847088"/>
          </a:xfrm>
          <a:prstGeom prst="roundRect">
            <a:avLst>
              <a:gd name="adj" fmla="val 247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24730" y="1645920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10⁻¹⁶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624730" y="2414016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level in exact double precision — machine epsilon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7317" y="1371600"/>
            <a:ext cx="3454298" cy="1847088"/>
          </a:xfrm>
          <a:prstGeom prst="roundRect">
            <a:avLst>
              <a:gd name="adj" fmla="val 247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3349" y="1645920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353349" y="2414016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H₀ bar on each side; H₁ empty on both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493008"/>
            <a:ext cx="10911535" cy="2244425"/>
          </a:xfrm>
          <a:prstGeom prst="roundRect">
            <a:avLst>
              <a:gd name="adj" fmla="val 2037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3730752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pipeline demonstrated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206240"/>
            <a:ext cx="10180015" cy="1375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Entropy, mutual information, and RT throat length all computed correctly and cross-checked against closed forms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matrices → ripser → persistence diagrams → persim Wasserstein, running end to end with no glue errors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float32 artefact in ripser's C++ backend was identified and worked around by comparing exact double-precision bars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explicit, parameter-free map φ written in closed form rather than fitted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·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Rung 1: the critique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exactly zero. That should provoke suspicion rather than satisfaction — real measurements are not exactly zero.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5349240" cy="2864023"/>
          </a:xfrm>
          <a:prstGeom prst="roundRect">
            <a:avLst>
              <a:gd name="adj" fmla="val 1596"/>
            </a:avLst>
          </a:prstGeom>
          <a:solidFill>
            <a:srgbClr val="F7EEDF"/>
          </a:solidFill>
          <a:ln w="12700">
            <a:solidFill>
              <a:srgbClr val="F7EE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circularity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54096"/>
            <a:ext cx="4709160" cy="1766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was DEFINED as ℓ / d.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φ to the ER bar gives d by construction. Comparing that to the EPR bar, which is also d, must return zero.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computation is: divide a number by itself, observe that the answer is one. No physics was consulted between the definition and the measurement.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2212848"/>
            <a:ext cx="5349240" cy="2864023"/>
          </a:xfrm>
          <a:prstGeom prst="roundRect">
            <a:avLst>
              <a:gd name="adj" fmla="val 159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further problems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054096"/>
            <a:ext cx="4709160" cy="1766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was an INPUT. The throat length was set equal to the entropy because Ryu–Takayanagi says so. The correspondence was assumed, then rediscovered.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with two points per side, each distance matrix produces exactly one finite bar. Two single-bar diagrams always agree up to rescaling. The topology had no room to disagree — there was nothing for it to detect.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1 is a correct and useful pipeline test. It is not evidence for ER = EPR, and the write-up says so in its own conclusion.</a:t>
            </a:r>
            <a:endParaRPr lang="en-US" sz="11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·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Rung 2: adding a parameter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natural response to “one data point proves nothing” is to add a knob. Rung 2 sweeps temperature across a two-level thermofield double.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5349240" cy="2938272"/>
          </a:xfrm>
          <a:prstGeom prst="roundRect">
            <a:avLst>
              <a:gd name="adj" fmla="val 1556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construction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54096"/>
            <a:ext cx="4709160" cy="1840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Two-level system, E₀ = 0 and E₁ = 1, in the TFD state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log-spaced values of β from 0.01 to 20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β: compute S(A), I(A:B), d, throat length, both barcodes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φ(β) = S(A)·I(A:B) = 2 S(A)² — one closed form, no free parameters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212848"/>
            <a:ext cx="5349240" cy="2938272"/>
          </a:xfrm>
          <a:prstGeom prst="roundRect">
            <a:avLst>
              <a:gd name="adj" fmla="val 155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054096"/>
            <a:ext cx="4709160" cy="1840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Wasserstein at machine precision (max 3.6×10⁻¹²) at EVERY β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2S(A)² held exactly across the full sweep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crossover at β ~ 1 is smooth and analytic — not a phase transition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Betti numbers never changed: one finite H₀ bar throughout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stated claim was stronger than Rung 1's: not “the ratio is one” but “one closed-form law relates the two families at every temperature.”</a:t>
            </a:r>
            <a:endParaRPr lang="en-US" sz="11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·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Rung 2: the same critique, one level up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parameter did not add independence. The map was still constructed from the very quantities it was then tested against.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3454298" cy="1877568"/>
          </a:xfrm>
          <a:prstGeom prst="roundRect">
            <a:avLst>
              <a:gd name="adj" fmla="val 2435"/>
            </a:avLst>
          </a:prstGeom>
          <a:solidFill>
            <a:srgbClr val="F7EEDF"/>
          </a:solidFill>
          <a:ln w="12700">
            <a:solidFill>
              <a:srgbClr val="F7EE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505456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circular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27248"/>
            <a:ext cx="290565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φ(β) = S(A)·I(A:B) is built from both sides' defining quantities. It cannot fail to relate them, at any β.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8698" y="2212848"/>
            <a:ext cx="3454298" cy="1877568"/>
          </a:xfrm>
          <a:prstGeom prst="roundRect">
            <a:avLst>
              <a:gd name="adj" fmla="val 2435"/>
            </a:avLst>
          </a:prstGeom>
          <a:solidFill>
            <a:srgbClr val="F7EEDF"/>
          </a:solidFill>
          <a:ln w="12700">
            <a:solidFill>
              <a:srgbClr val="F7EE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43018" y="2505456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one bar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643018" y="3127248"/>
            <a:ext cx="290565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points per side means one finite H₀ bar per side, at every temperature. The Betti numbers never move — the barcode has no degrees of freedom to test.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97317" y="2212848"/>
            <a:ext cx="3454298" cy="1877568"/>
          </a:xfrm>
          <a:prstGeom prst="roundRect">
            <a:avLst>
              <a:gd name="adj" fmla="val 2435"/>
            </a:avLst>
          </a:prstGeom>
          <a:solidFill>
            <a:srgbClr val="EAF3EF"/>
          </a:solidFill>
          <a:ln w="12700">
            <a:solidFill>
              <a:srgbClr val="EAF3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71637" y="2505456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did add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371637" y="3127248"/>
            <a:ext cx="290565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confidence that the pipeline is numerically stable across four orders of magnitude in β, and a float32-versus-float64 diagnosis that mattered later.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framing for the paper: Rungs 1 and 2 are pipeline validation with a temperature-dependent consistency check. They are reported as such, not as results.</a:t>
            </a:r>
            <a:endParaRPr lang="en-US" sz="11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E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926080"/>
            <a:ext cx="5852160" cy="5852160"/>
          </a:xfrm>
          <a:prstGeom prst="ellipse">
            <a:avLst/>
          </a:prstGeom>
          <a:solidFill>
            <a:srgbClr val="1B2A4A">
              <a:alpha val="60000"/>
            </a:srgbClr>
          </a:solidFill>
          <a:ln w="12700">
            <a:solidFill>
              <a:srgbClr val="1B2A4A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1280160"/>
            <a:ext cx="4206240" cy="4206240"/>
          </a:xfrm>
          <a:prstGeom prst="ellipse">
            <a:avLst/>
          </a:prstGeom>
          <a:solidFill>
            <a:srgbClr val="24406B">
              <a:alpha val="50000"/>
            </a:srgbClr>
          </a:solidFill>
          <a:ln w="12700">
            <a:solidFill>
              <a:srgbClr val="24406B">
                <a:alpha val="5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71600" y="17373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spc="4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· 6  ·  LESSON CARRIED FORWARD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22402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Construction-guaranteed agreement</a:t>
            </a:r>
            <a:endParaRPr lang="en-US" sz="30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 be identified and quarantined</a:t>
            </a:r>
            <a:endParaRPr lang="en-US" sz="30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it is treated as evidence.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394960" y="4315968"/>
            <a:ext cx="1371600" cy="0"/>
          </a:xfrm>
          <a:prstGeom prst="line">
            <a:avLst/>
          </a:prstGeom>
          <a:noFill/>
          <a:ln w="25400">
            <a:solidFill>
              <a:srgbClr val="E9A1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94560" y="459028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Wasserstein = 0 felt like a triumph and was arithmetic. From this point on, every agreement in the project was interrogated for whether it could have come out otherwise — and several could not.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E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377440"/>
            <a:ext cx="5669280" cy="5669280"/>
          </a:xfrm>
          <a:prstGeom prst="ellipse">
            <a:avLst/>
          </a:prstGeom>
          <a:solidFill>
            <a:srgbClr val="1B2A4A">
              <a:alpha val="65000"/>
            </a:srgbClr>
          </a:solidFill>
          <a:ln w="12700">
            <a:solidFill>
              <a:srgbClr val="1B2A4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VI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60604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Rung 3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systems, real topology — and a mismatch that no amount of computing could have fixed.</a:t>
            </a:r>
            <a:endParaRPr lang="en-US" sz="14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·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Rung 3: the construction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rung with genuine many-body entanglement on one side and genuine curved geometry on the other.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5349240" cy="2842260"/>
          </a:xfrm>
          <a:prstGeom prst="roundRect">
            <a:avLst>
              <a:gd name="adj" fmla="val 1609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EPR side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54096"/>
            <a:ext cx="4709160" cy="174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SYK at N = 8 in the thermofield double state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correlation matrix Cᵢⱼ = ⟨TFD| χᵢᴸ χⱼᴿ |TFD⟩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per fermion flavour i — an N-point cloud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built from the correlation strength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genuine H₁ bars, varying with β (1 to 4 loops)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212848"/>
            <a:ext cx="5349240" cy="2842260"/>
          </a:xfrm>
          <a:prstGeom prst="roundRect">
            <a:avLst>
              <a:gd name="adj" fmla="val 160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side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054096"/>
            <a:ext cx="4709160" cy="174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 gravity, eternal black hole, t = 0 time slice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placed along the radial direction of the slice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= geodesic distance within the slice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per radial position 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H₁ = 0 at every β, without exception</a:t>
            </a:r>
            <a:endParaRPr lang="en-US" sz="12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·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Rung 3: the result was an asymmetry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454298" cy="1847088"/>
          </a:xfrm>
          <a:prstGeom prst="roundRect">
            <a:avLst>
              <a:gd name="adj" fmla="val 247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645920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– 4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414016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bars on the EPR side, fluctuating with β and realisation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68698" y="1371600"/>
            <a:ext cx="3454298" cy="1847088"/>
          </a:xfrm>
          <a:prstGeom prst="roundRect">
            <a:avLst>
              <a:gd name="adj" fmla="val 247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24730" y="1645920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57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624730" y="2414016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bars on the ER side, at every temperature tested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7317" y="1371600"/>
            <a:ext cx="3454298" cy="1847088"/>
          </a:xfrm>
          <a:prstGeom prst="roundRect">
            <a:avLst>
              <a:gd name="adj" fmla="val 247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3349" y="1645920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353349" y="2414016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Wasserstein comparison: not meaningful when one module is identically zero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493008"/>
            <a:ext cx="10911535" cy="2359152"/>
          </a:xfrm>
          <a:prstGeom prst="roundRect">
            <a:avLst>
              <a:gd name="adj" fmla="val 1938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3730752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independent reasons this could never have worked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206240"/>
            <a:ext cx="10180015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MISMATCH: the EPR cloud is indexed by fermion flavour i; the ER cloud by radial position r. The holographic dictionary relates no such pair — the two point clouds were not comparable objects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PROVABLE TRIVIALITY: the t = 0 slice is one-dimensional, and Vietoris–Rips on points in ℝ gives a chordal indifference graph at every scale, whose clique complex is contractible. H₁ ≡ 0 identically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structural impossibility, not a numerical failure: no amount of resolution, sampling, or averaging could produce a loop on the ER side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·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the proof right mattered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explanations were offered for why the JT slice had no loops. Two were wrong. Chasing them down was not wasted effort — the wrong ones would have suggested the wrong fix.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3454298" cy="2426208"/>
          </a:xfrm>
          <a:prstGeom prst="roundRect">
            <a:avLst>
              <a:gd name="adj" fmla="val 1884"/>
            </a:avLst>
          </a:prstGeom>
          <a:solidFill>
            <a:srgbClr val="F7EEDF"/>
          </a:solidFill>
          <a:ln w="12700">
            <a:solidFill>
              <a:srgbClr val="F7EE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87168"/>
            <a:ext cx="402336" cy="402336"/>
          </a:xfrm>
          <a:prstGeom prst="ellipse">
            <a:avLst/>
          </a:prstGeom>
          <a:solidFill>
            <a:srgbClr val="C057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54096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Curvature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75888"/>
            <a:ext cx="290565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“Negative curvature prevents loops.” False — curvature is not what determines the homotopy type of a Vietoris–Rips complex.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8698" y="2212848"/>
            <a:ext cx="3454298" cy="2426208"/>
          </a:xfrm>
          <a:prstGeom prst="roundRect">
            <a:avLst>
              <a:gd name="adj" fmla="val 1884"/>
            </a:avLst>
          </a:prstGeom>
          <a:solidFill>
            <a:srgbClr val="F7EEDF"/>
          </a:solidFill>
          <a:ln w="12700">
            <a:solidFill>
              <a:srgbClr val="F7EE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3018" y="2487168"/>
            <a:ext cx="402336" cy="402336"/>
          </a:xfrm>
          <a:prstGeom prst="ellipse">
            <a:avLst/>
          </a:prstGeom>
          <a:solidFill>
            <a:srgbClr val="C057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3018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43018" y="3054096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Triangle filling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643018" y="3675888"/>
            <a:ext cx="290565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“Triangles always fill in, so loops die immediately.” Closer, but not a proof, and it does not generalise.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7317" y="2212848"/>
            <a:ext cx="3454298" cy="2426208"/>
          </a:xfrm>
          <a:prstGeom prst="roundRect">
            <a:avLst>
              <a:gd name="adj" fmla="val 1884"/>
            </a:avLst>
          </a:prstGeom>
          <a:solidFill>
            <a:srgbClr val="EAF3EF"/>
          </a:solidFill>
          <a:ln w="12700">
            <a:solidFill>
              <a:srgbClr val="EAF3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1637" y="2487168"/>
            <a:ext cx="402336" cy="402336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71637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371637" y="3054096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Chordal graphs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371637" y="3675888"/>
            <a:ext cx="290565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in ℝ give an indifference graph at every threshold. Indifference graphs are chordal, and the clique complex of a chordal graph is contractible.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proof also tells you the fix: the problem is the dimension of the ER point set, so the ER side must be re-indexed by something that is not a line.</a:t>
            </a:r>
            <a:endParaRPr lang="en-US" sz="11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·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diagnosis and the fix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3 did not produce a comparison. It produced a specification for what a valid comparison requires.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5349240" cy="2938272"/>
          </a:xfrm>
          <a:prstGeom prst="roundRect">
            <a:avLst>
              <a:gd name="adj" fmla="val 1556"/>
            </a:avLst>
          </a:prstGeom>
          <a:solidFill>
            <a:srgbClr val="F7EEDF"/>
          </a:solidFill>
          <a:ln w="12700">
            <a:solidFill>
              <a:srgbClr val="F7EE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wrong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54096"/>
            <a:ext cx="4709160" cy="1840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sides were indexed by incompatible things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side was structurally incapable of the feature being compared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classical, frozen time-slice carries no temperature dependence at all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even a perfect pipeline had nothing to measure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212848"/>
            <a:ext cx="5349240" cy="2938272"/>
          </a:xfrm>
          <a:prstGeom prst="roundRect">
            <a:avLst>
              <a:gd name="adj" fmla="val 1556"/>
            </a:avLst>
          </a:prstGeom>
          <a:solidFill>
            <a:srgbClr val="EAF3EF"/>
          </a:solidFill>
          <a:ln w="12700">
            <a:solidFill>
              <a:srgbClr val="EAF3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requirements this implies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054096"/>
            <a:ext cx="4709160" cy="1840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must be indexed by the SAME physical parameter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must be structurally capable of the same homology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 side must carry real dynamics, not a frozen classical slice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time τ on a shared thermal circle satisfies all three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specification became Rung 4: re-index both sides by τ, and replace the classical slice with the exact Schwarzian correlator, which is temperature-dependent by construction.</a:t>
            </a:r>
            <a:endParaRPr lang="en-US" sz="11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E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377440"/>
            <a:ext cx="5669280" cy="5669280"/>
          </a:xfrm>
          <a:prstGeom prst="ellipse">
            <a:avLst/>
          </a:prstGeom>
          <a:solidFill>
            <a:srgbClr val="1B2A4A">
              <a:alpha val="65000"/>
            </a:srgbClr>
          </a:solidFill>
          <a:ln w="12700">
            <a:solidFill>
              <a:srgbClr val="1B2A4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VII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60604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Rung 4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symmetric, pre-registered comparison — and four findings, one of which changed the project.</a:t>
            </a:r>
            <a:endParaRPr lang="en-US" sz="14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 ·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Rung 4: the corrected design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re-indexed by Euclidean time on the same 24-point thermal circle. Same construction, same gauge, same code path.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5349240" cy="2938272"/>
          </a:xfrm>
          <a:prstGeom prst="roundRect">
            <a:avLst>
              <a:gd name="adj" fmla="val 1556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EPR side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54096"/>
            <a:ext cx="4709160" cy="1840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SYK₄ Euclidean autocorrelator from exact diagonalisation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G(τ) = Tr[ e^(−(β−τ)H) χ e^(−τH) χ ] / Z, averaged over flavours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∈ {12, 14, 16, 18}, β ∈ {5, 10, 20, 40}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seeded realisations per cell — 160 profiles in total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212848"/>
            <a:ext cx="5349240" cy="2938272"/>
          </a:xfrm>
          <a:prstGeom prst="roundRect">
            <a:avLst>
              <a:gd name="adj" fmla="val 155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side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054096"/>
            <a:ext cx="4709160" cy="1840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Schwarzian correlator, evaluated at the same separations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C(N) from the large-N dictionary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controls at C×5 and C÷5, plus the conformal C → ∞ shape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profiles, every one with a self-reported convergence error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on both sides: d = 1/Ĝ with Ĝ = G/G(β/2). The shape gauge removes normalisation conventions from the comparison entirely.</a:t>
            </a:r>
            <a:endParaRPr lang="en-US" sz="11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 ·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pre-registered criterion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down before any comparison ran, so that the result could not be adjusted after the fact.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2522144" cy="263956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87168"/>
            <a:ext cx="402336" cy="402336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Declared, not fitted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75888"/>
            <a:ext cx="1973504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C(N) = √2 · α_S · N taken from the literature. No parameter is tuned to improve agreement.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36544" y="2212848"/>
            <a:ext cx="2522144" cy="263956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10864" y="2487168"/>
            <a:ext cx="402336" cy="402336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10864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710864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controls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3710864" y="3675888"/>
            <a:ext cx="1973504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comparison at C×5 and C÷5 — deliberately wrong dictionaries that a true correspondence should lose to.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33008" y="2212848"/>
            <a:ext cx="2522144" cy="263956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7328" y="2487168"/>
            <a:ext cx="402336" cy="402336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7328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07328" y="3675888"/>
            <a:ext cx="1973504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cell counts as favoured only if the declared C beats BOTH mismatched controls on W_H₀ + W_H₁.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29471" y="2212848"/>
            <a:ext cx="2522144" cy="263956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03791" y="2487168"/>
            <a:ext cx="402336" cy="402336"/>
          </a:xfrm>
          <a:prstGeom prst="ellipse">
            <a:avLst/>
          </a:prstGeom>
          <a:solidFill>
            <a:srgbClr val="C057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03791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303791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Chance rate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9303791" y="3675888"/>
            <a:ext cx="1973504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three candidates and no real signal, roughly one cell in three should win by luck. The bar is set accordingly.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mismatched controls, any agreement number is unfalsifiable — there is nothing it could have failed to beat.</a:t>
            </a:r>
            <a:endParaRPr lang="en-US" sz="11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 ·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Validating the ER side before trusting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checks, run before any physics comparison. Each has a pass criterion and a control that should fail.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911535" cy="603504"/>
          </a:xfrm>
          <a:prstGeom prst="roundRect">
            <a:avLst>
              <a:gd name="adj" fmla="val 7576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240280"/>
            <a:ext cx="420624" cy="420624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9536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212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Free energy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49631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 Z against the Schwarzian asymptotic, with wrong-power ρ controls that must drift — PASS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862072"/>
            <a:ext cx="10911535" cy="603504"/>
          </a:xfrm>
          <a:prstGeom prst="roundRect">
            <a:avLst>
              <a:gd name="adj" fmla="val 7576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2953512"/>
            <a:ext cx="420624" cy="420624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9536" y="2953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2926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· Conformal shape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3209544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from the tree-level shape must shrink as O(β/C) — observed slope exactly 1.000 — PASS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575304"/>
            <a:ext cx="10911535" cy="603504"/>
          </a:xfrm>
          <a:prstGeom prst="roundRect">
            <a:avLst>
              <a:gd name="adj" fmla="val 7576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" y="3666744"/>
            <a:ext cx="420624" cy="420624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9536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3639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· Barcode collapse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3922776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Wasserstein to the frozen-circle barcode must fall toward zero as C grows — halves per doubling — PASS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288536"/>
            <a:ext cx="10911535" cy="603504"/>
          </a:xfrm>
          <a:prstGeom prst="roundRect">
            <a:avLst>
              <a:gd name="adj" fmla="val 7576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" y="4379976"/>
            <a:ext cx="420624" cy="420624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9536" y="4379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481328" y="43525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· Is β/C a real knob?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1481328" y="4636008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β/C must give equal G; different β/C must not — PASS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001768"/>
            <a:ext cx="10911535" cy="603504"/>
          </a:xfrm>
          <a:prstGeom prst="roundRect">
            <a:avLst>
              <a:gd name="adj" fmla="val 7576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" y="5093208"/>
            <a:ext cx="420624" cy="420624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59536" y="5093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481328" y="50657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· Small-C cross-check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1481328" y="5349240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quadrature against an independent dense grid at the C where the physics lives — agree to 4×10⁻¹⁶ — PASS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 was added late, on noticing that Checks A–D all lived at C ∈ [25,200] while the physically matched comparison sits near C ≈ 0.1–0.2.</a:t>
            </a:r>
            <a:endParaRPr lang="en-US" sz="11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 ·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A is a prediction, not a fitted constant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free-energy residual does not merely settle at some constant. It settles at a specific number that can be derived by hand — which turns a soft check into a parameter-free test.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1572768"/>
          </a:xfrm>
          <a:prstGeom prst="roundRect">
            <a:avLst>
              <a:gd name="adj" fmla="val 2907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487168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ln Z  =  2π²C/β  +  (3/2) log(2πC/β)  −  log 2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035808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    R(β)  ≡  ln Z − [ 2π²C/β + 1.5 log(2πC/β) ]  =  − log 2   exactly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059936"/>
            <a:ext cx="3454298" cy="1426464"/>
          </a:xfrm>
          <a:prstGeom prst="roundRect">
            <a:avLst>
              <a:gd name="adj" fmla="val 320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4297680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comes from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4754880"/>
            <a:ext cx="29422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C/β ≫ 1, sinh(2πk) → e^(2πk)/2. Completing the square gives k* = 2πC/β, and the ½ becomes −log 2.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8698" y="4059936"/>
            <a:ext cx="3454298" cy="1426464"/>
          </a:xfrm>
          <a:prstGeom prst="roundRect">
            <a:avLst>
              <a:gd name="adj" fmla="val 320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24730" y="4297680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Observed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24730" y="4754880"/>
            <a:ext cx="29422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−0.693147180560 at every β in the sweep, constant to 1.7×10⁻¹³ across a 32-fold range in C/β.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7317" y="4059936"/>
            <a:ext cx="3454298" cy="1426464"/>
          </a:xfrm>
          <a:prstGeom prst="roundRect">
            <a:avLst>
              <a:gd name="adj" fmla="val 320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3349" y="4297680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drift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353349" y="4754880"/>
            <a:ext cx="29422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ρ = k sinh with k⁰ sinh or k² sinh makes the residual drift by ±3.46 across the same sweep.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reproduced from scratch. Stating Check A this way removes any appearance of a criterion adjusted after seeing the data.</a:t>
            </a:r>
            <a:endParaRPr lang="en-US" sz="11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 ·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extraction gate: measuring C from SYK itself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comparison to be a test rather than a calibration, C should be measured from the SYK data, not imported. Two independent routes were pre-registered.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5349240" cy="2198340"/>
          </a:xfrm>
          <a:prstGeom prst="roundRect">
            <a:avLst>
              <a:gd name="adj" fmla="val 208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1 — density of states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54096"/>
            <a:ext cx="4709160" cy="1101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Schwarzian spectrum has a characteristic sinh edge whose slope fixes C.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no plateau at any N. The slope never stabilises, so no value can be read off.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2212848"/>
            <a:ext cx="5349240" cy="2198340"/>
          </a:xfrm>
          <a:prstGeom prst="roundRect">
            <a:avLst>
              <a:gd name="adj" fmla="val 208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2 — thermodynamic entropy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054096"/>
            <a:ext cx="4709160" cy="1101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low temperature the Schwarzian predicts entropy linear in T, with slope proportional to C.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fit returns a NEGATIVE C at every N — physically impossible.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routes also disagree with each other by 230–433%. And a bandwidth-matched GOE random-matrix control tracks the SYK data almost exactly at N = 18.</a:t>
            </a:r>
            <a:endParaRPr lang="en-US" sz="11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 · 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 failed, and that is itself a finding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454298" cy="1847088"/>
          </a:xfrm>
          <a:prstGeom prst="roundRect">
            <a:avLst>
              <a:gd name="adj" fmla="val 247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645920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57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4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414016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extraction criteria met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68698" y="1371600"/>
            <a:ext cx="3454298" cy="1847088"/>
          </a:xfrm>
          <a:prstGeom prst="roundRect">
            <a:avLst>
              <a:gd name="adj" fmla="val 247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24730" y="1645920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230–433%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624730" y="2414016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between the two independent routes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7317" y="1371600"/>
            <a:ext cx="3454298" cy="1847088"/>
          </a:xfrm>
          <a:prstGeom prst="roundRect">
            <a:avLst>
              <a:gd name="adj" fmla="val 247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3349" y="1645920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GOE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353349" y="2414016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random-matrix control is nearly indistinguishable from SYK at N = 18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493008"/>
            <a:ext cx="10911535" cy="2359152"/>
          </a:xfrm>
          <a:prstGeom prst="roundRect">
            <a:avLst>
              <a:gd name="adj" fmla="val 1938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3730752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means, and what we did about it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206240"/>
            <a:ext cx="10180015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 ≤ 18 the SYK spectrum is random-matrix-like. There is no emergent Schwarzian scale present to extract — the low-energy regime has not been reached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was therefore DECLARED from the literature rather than measured, by explicit decision, and reported as an imported calibration rather than a result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was traced to source: α_S is derived from one fitted specific-heat coefficient in Maldacena–Stanford, and every published q = 4 value traces back to it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cross-check we initially cited was found to be circular — it inverted the same equation α_S came from — and was withdrawn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 ·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comparison run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cells, four dictionary variants each, 10 SYK realisations per cell.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3454298" cy="1847088"/>
          </a:xfrm>
          <a:prstGeom prst="roundRect">
            <a:avLst>
              <a:gd name="adj" fmla="val 247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487168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16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255264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where the declared dictionary beat both mismatched controls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8698" y="2212848"/>
            <a:ext cx="3454298" cy="1847088"/>
          </a:xfrm>
          <a:prstGeom prst="roundRect">
            <a:avLst>
              <a:gd name="adj" fmla="val 247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24730" y="2487168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~1/3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624730" y="3255264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expected by chance with three candidates and no signal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97317" y="2212848"/>
            <a:ext cx="3454298" cy="1847088"/>
          </a:xfrm>
          <a:prstGeom prst="roundRect">
            <a:avLst>
              <a:gd name="adj" fmla="val 247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3349" y="2487168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8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353349" y="3255264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that flipped status under a second distance convention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334256"/>
            <a:ext cx="10911535" cy="1152144"/>
          </a:xfrm>
          <a:prstGeom prst="roundRect">
            <a:avLst>
              <a:gd name="adj" fmla="val 3968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4572000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raw result was read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5047488"/>
            <a:ext cx="1018001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16 is below the chance rate, not above it — this is a signal against the dictionary, not a weak signal for it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misses are systematic rather than random: SYK sits on the conformal side of the declared curve in every cell at β ≤ 20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favoured cells clear the ×5 control by only about 0.4–0.5σ in the log convention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trend in N at β = 40, which is what an emerging large-N dictionary would require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caveat found on review: the second convention assigns zero distance to nearest neighbours, which deletes H₀ entirely. Both conventions are therefore dominated by the same scalar, so this tests convention sensitivity rather than independence.</a:t>
            </a:r>
            <a:endParaRPr lang="en-US" sz="11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 · 8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profiles actually look like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shape-gauged correlator Ĝ = G/G(β/2) against separation, at N = 18, β = 20. Every Schwarzian variant decays faster than SYK at short separation — and the gap is largest at the very first point.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0" y="1234440"/>
          <a:ext cx="5577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2880360"/>
            <a:ext cx="5029200" cy="2286000"/>
          </a:xfrm>
          <a:prstGeom prst="roundRect">
            <a:avLst>
              <a:gd name="adj" fmla="val 2000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3108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left edge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56616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curves converge to 1 at m = 12, because that is where the gauge is fixed. All the disagreement lives at small m — the shortest separations, deepest in the UV.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observation eventually explains the entire result.</a:t>
            </a:r>
            <a:endParaRPr lang="en-US" sz="12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E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926080"/>
            <a:ext cx="5852160" cy="5852160"/>
          </a:xfrm>
          <a:prstGeom prst="ellipse">
            <a:avLst/>
          </a:prstGeom>
          <a:solidFill>
            <a:srgbClr val="1B2A4A">
              <a:alpha val="60000"/>
            </a:srgbClr>
          </a:solidFill>
          <a:ln w="12700">
            <a:solidFill>
              <a:srgbClr val="1B2A4A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1280160"/>
            <a:ext cx="4206240" cy="4206240"/>
          </a:xfrm>
          <a:prstGeom prst="ellipse">
            <a:avLst/>
          </a:prstGeom>
          <a:solidFill>
            <a:srgbClr val="24406B">
              <a:alpha val="50000"/>
            </a:srgbClr>
          </a:solidFill>
          <a:ln w="12700">
            <a:solidFill>
              <a:srgbClr val="24406B">
                <a:alpha val="5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71600" y="17373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spc="4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 · 9  ·  FINDING 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22402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barcodes carry</a:t>
            </a:r>
            <a:endParaRPr lang="en-US" sz="34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exactly two numbers per side.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394960" y="4315968"/>
            <a:ext cx="1371600" cy="0"/>
          </a:xfrm>
          <a:prstGeom prst="line">
            <a:avLst/>
          </a:prstGeom>
          <a:noFill/>
          <a:ln w="25400">
            <a:solidFill>
              <a:srgbClr val="E9A1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94560" y="459028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many components. Not a rich structured invariant. Two scalars — and the persistent homology was a lossy re-encoding of them. This is the finding that reshaped the project.</a:t>
            </a:r>
            <a:endParaRPr lang="en-US" sz="14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 · 10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reduction works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facts about the construction chain together and collapse the entire invariant.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911535" cy="649224"/>
          </a:xfrm>
          <a:prstGeom prst="roundRect">
            <a:avLst>
              <a:gd name="adj" fmla="val 7042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263140"/>
            <a:ext cx="420624" cy="420624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9536" y="22631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212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matrix is circulant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49631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d(i,j) depends only on the circle separation m, so the 24×24 matrix is determined by 12 numbers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907792"/>
            <a:ext cx="10911535" cy="649224"/>
          </a:xfrm>
          <a:prstGeom prst="roundRect">
            <a:avLst>
              <a:gd name="adj" fmla="val 7042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3022092"/>
            <a:ext cx="420624" cy="420624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9536" y="30220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2971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profile is monotone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3255264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Ĝ strictly decreasing in m — verified on all 224 diagrams, zero violations, minimum forward step 4.5×10⁻⁴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666744"/>
            <a:ext cx="10911535" cy="649224"/>
          </a:xfrm>
          <a:prstGeom prst="roundRect">
            <a:avLst>
              <a:gd name="adj" fmla="val 7042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" y="3781044"/>
            <a:ext cx="420624" cy="420624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9536" y="37810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3730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the filtration is forced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4014216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any threshold the edge set is exactly { m ≤ k }: the nested circulant graphs C₂₄(1..k), and nothing else can occur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425696"/>
            <a:ext cx="10911535" cy="649224"/>
          </a:xfrm>
          <a:prstGeom prst="roundRect">
            <a:avLst>
              <a:gd name="adj" fmla="val 7042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" y="4539996"/>
            <a:ext cx="420624" cy="420624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9536" y="45399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481328" y="44897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Adamaszek–Adams applies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1481328" y="4773168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homotopy type at each k is fixed: a circle for k/n &lt; 1/3, and a wedge of 2-spheres at k/n = 1/3 where H₁ dies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184648"/>
            <a:ext cx="10911535" cy="649224"/>
          </a:xfrm>
          <a:prstGeom prst="roundRect">
            <a:avLst>
              <a:gd name="adj" fmla="val 7042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" y="5298948"/>
            <a:ext cx="420624" cy="420624"/>
          </a:xfrm>
          <a:prstGeom prst="ellipse">
            <a:avLst/>
          </a:prstGeom>
          <a:solidFill>
            <a:srgbClr val="C0574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59536" y="52989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481328" y="52486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barcode is determined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1481328" y="5532120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is 23 copies of [0, 1/Ĝ(1)]; H₁ is the single bar [1/Ĝ(1), 1/Ĝ(8)]. Nothing else is possible</a:t>
            </a:r>
            <a:endParaRPr lang="en-US" sz="11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E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 · 11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consequence, verified numerically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barcode exactly means the Wasserstein distances can be predicted in closed form — and they were, before being measured.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1051560"/>
          </a:xfrm>
          <a:prstGeom prst="roundRect">
            <a:avLst>
              <a:gd name="adj" fmla="val 434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9456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W_H₀  =  23 · | Δ ( 1/Ĝ(1) ) |          W_H₁  =  √( Δ(1/Ĝ(1))²  +  Δ(1/Ĝ(8))² 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× 0.445283 = 10.2415 for the minimum-β/C cell, using persim's p = 1 with a Euclidean ground metric.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4730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624730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10.2415. Matching the closed form to 7.7×10⁻⁷ across all realisations — the residual is ripser's float32 coordinates.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7317" y="3538728"/>
            <a:ext cx="3454298" cy="1547165"/>
          </a:xfrm>
          <a:prstGeom prst="roundRect">
            <a:avLst>
              <a:gd name="adj" fmla="val 295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3349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Grid-wide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53349" y="4233672"/>
            <a:ext cx="2942234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diagrams: zero empty H₁, zero extra bars, every bar equal to the predicted coordinates to 3×10⁻⁸.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23:1 weighting means the comparison is dominated by Ĝ(1) alone — the nearest-neighbour correlation ratio, a single number.</a:t>
            </a:r>
            <a:endParaRPr lang="en-US" sz="11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 · 12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 and does not invalidate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reduction is not a bug in the code. It is a theorem about the construction — and it must be read carefully.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5349240" cy="2820924"/>
          </a:xfrm>
          <a:prstGeom prst="roundRect">
            <a:avLst>
              <a:gd name="adj" fmla="val 1621"/>
            </a:avLst>
          </a:prstGeom>
          <a:solidFill>
            <a:srgbClr val="F7EEDF"/>
          </a:solidFill>
          <a:ln w="12700">
            <a:solidFill>
              <a:srgbClr val="F7EE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does NOT mean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54096"/>
            <a:ext cx="4709160" cy="1723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the numbers are wrong — every value in the study is correct and reproducible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persistent homology is useless for physics in general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the pipeline was implemented incorrectly — it does exactly what it claims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212848"/>
            <a:ext cx="5349240" cy="2820924"/>
          </a:xfrm>
          <a:prstGeom prst="roundRect">
            <a:avLst>
              <a:gd name="adj" fmla="val 1621"/>
            </a:avLst>
          </a:prstGeom>
          <a:solidFill>
            <a:srgbClr val="EAF3EF"/>
          </a:solidFill>
          <a:ln w="12700">
            <a:solidFill>
              <a:srgbClr val="EAF3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DOES mean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054096"/>
            <a:ext cx="4709160" cy="1723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on this construction the topology adds nothing beyond two correlator values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“H₁ &gt; 0 on both sides” is architecturally guaranteed and proves nothing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the same conclusion follows for ANY monotone circulant thermal-circle filtration — which makes it a general result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Rungs 1–2 lesson at the top of the ladder: an agreement that could not have come out otherwise is not evidence.</a:t>
            </a:r>
            <a:endParaRPr lang="en-US" sz="11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 · 13  ·  FINDING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SYK sits outside the Schwarzian family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Ĝ(1) for the Schwarzian is a function of β/C alone — verified to zero spread — and increases monotonically in it. Its infimum is the conformal value 2.768. Measured SYK falls BELOW that floor for every β ≤ 20.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029200" cy="1234440"/>
          </a:xfrm>
          <a:prstGeom prst="roundRect">
            <a:avLst>
              <a:gd name="adj" fmla="val 3704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8803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/ 16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29260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structurally unreachable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ANY value of C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5029200" cy="1600200"/>
          </a:xfrm>
          <a:prstGeom prst="roundRect">
            <a:avLst>
              <a:gd name="adj" fmla="val 285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4343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crossing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7091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SYK's Ĝ(1) rises with β while the conformal floor is fixed. It crosses at β ≈ 26.6, 21.0, 21.2, 24.1 for N = 12, 14, 16, 18 — so a fit exists only at β = 40.</a:t>
            </a:r>
            <a:endParaRPr lang="en-US" sz="12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943600" y="1234440"/>
          <a:ext cx="557784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 · 14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claim we had to withdraw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reachability result was first stated globally: “no C can ever reach SYK.” That was wrong, and the project's own data refuted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3454298" cy="2426208"/>
          </a:xfrm>
          <a:prstGeom prst="roundRect">
            <a:avLst>
              <a:gd name="adj" fmla="val 1884"/>
            </a:avLst>
          </a:prstGeom>
          <a:solidFill>
            <a:srgbClr val="F7EEDF"/>
          </a:solidFill>
          <a:ln w="12700">
            <a:solidFill>
              <a:srgbClr val="F7EE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87168"/>
            <a:ext cx="402336" cy="402336"/>
          </a:xfrm>
          <a:prstGeom prst="ellipse">
            <a:avLst/>
          </a:prstGeom>
          <a:solidFill>
            <a:srgbClr val="C057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54096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overgeneralisation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75888"/>
            <a:ext cx="290565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sweep ran at β = 5 only, and the conclusion was stated for the whole grid. One cell was generalised to sixteen.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8698" y="2212848"/>
            <a:ext cx="3454298" cy="2426208"/>
          </a:xfrm>
          <a:prstGeom prst="roundRect">
            <a:avLst>
              <a:gd name="adj" fmla="val 1884"/>
            </a:avLst>
          </a:prstGeom>
          <a:solidFill>
            <a:srgbClr val="EAF3EF"/>
          </a:solidFill>
          <a:ln w="12700">
            <a:solidFill>
              <a:srgbClr val="EAF3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3018" y="2487168"/>
            <a:ext cx="402336" cy="402336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3018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43018" y="3054096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refutation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643018" y="3675888"/>
            <a:ext cx="290565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 = 18, β = 40 the Wasserstein goes 3.61 → 1.55 → 0.55 → 1.83 across ÷5, declared, ×5, conformal — an interior minimum, impossible under a global bound.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7317" y="2212848"/>
            <a:ext cx="3454298" cy="2426208"/>
          </a:xfrm>
          <a:prstGeom prst="roundRect">
            <a:avLst>
              <a:gd name="adj" fmla="val 1884"/>
            </a:avLst>
          </a:prstGeom>
          <a:solidFill>
            <a:srgbClr val="EAF3EF"/>
          </a:solidFill>
          <a:ln w="12700">
            <a:solidFill>
              <a:srgbClr val="EAF3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1637" y="2487168"/>
            <a:ext cx="402336" cy="402336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71637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371637" y="3054096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correct statement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371637" y="3675888"/>
            <a:ext cx="290565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FAMILY is bounded below by the conformal value at every β. Whether SYK is reachable depends on which side of that floor it sits — and that moves with β.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claims require full parameter coverage. This is the second time in the project that a limited sweep produced an overstated global claim.</a:t>
            </a:r>
            <a:endParaRPr lang="en-US" sz="11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 · 15  ·  FINDING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 fit exists, it falsifies the dictionary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β = 40 the curves cross, so C can be fitted per cell. But C = √2·α_S·N is a property of the MODEL: it cannot depend on temperature, and one value must fit the whole profile.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542032"/>
            <a:ext cx="5120640" cy="914400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6609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dependence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in C_fit across β at fixed 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254203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 – 158%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5120640" cy="914400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685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inconsistency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9959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C_fit(Ĝ₁) / C_fit(Ĝ₈), should be 1.0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1.47 – 7.81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590288"/>
            <a:ext cx="5120640" cy="914400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709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large-N scaling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02005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predicted b = 1; χ²/dof = 17.4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459028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= 2.16 ± 2.40</a:t>
            </a:r>
            <a:endParaRPr lang="en-US" sz="16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035040" y="1280160"/>
          <a:ext cx="54864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640080" y="57150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fit reported is an exact crossing (residual ≤ 2×10⁻⁷). Cells with no interior minimum are reported as NO FIT, never as a boundary value.</a:t>
            </a:r>
            <a:endParaRPr lang="en-US" sz="11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 · 16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separation inconsistency is the decisive one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three failures could conceivably be blamed on noise at β = 40. The third cannot.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5349240" cy="2986065"/>
          </a:xfrm>
          <a:prstGeom prst="roundRect">
            <a:avLst>
              <a:gd name="adj" fmla="val 1531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argument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54096"/>
            <a:ext cx="4709160" cy="188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C so that the Schwarzian matches SYK at separation m = 1. Then check separation m = 8.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Schwarzian SHAPE were right, one C would fit both, and the ratio C_fit(Ĝ₁)/C_fit(Ĝ₈) would be 1.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1.47, 7.81, 3.14, 1.86 — off by factors up to eight, and not monotone in 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2212848"/>
            <a:ext cx="5349240" cy="2986065"/>
          </a:xfrm>
          <a:prstGeom prst="roundRect">
            <a:avLst>
              <a:gd name="adj" fmla="val 153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cannot be calibration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054096"/>
            <a:ext cx="4709160" cy="188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value of C is a calibration problem, and could be fixed by choosing a better one.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curve of the wrong SHAPE cannot be fixed by any choice of a single parameter. Fitting one separation necessarily misses the other.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failure is therefore independent of the declared dictionary entirely — it would persist under any C(N).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Concretely, at N = 14, β = 40: fixing C by Ĝ(1) leaves 1/Ĝ(8) at 0.8553 for SYK against 0.8918 for the Schwarzian.</a:t>
            </a:r>
            <a:endParaRPr lang="en-US" sz="11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 · 17  ·  FINDING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disagreement lives in the deep UV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nearest-neighbour separation is τ = β/24, the shortest scale on the circle. There SYK at accessible N is still nearly free, while the low-energy dictionary predicts steep decay — and the metric is weighted 23 : 1 toward exactly that point.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240280"/>
          <a:ext cx="5257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63640" y="2240280"/>
          <a:ext cx="5257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40080" y="56692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diagnostic only — neither was adopted as a convention. Excluding short separations to improve agreement would be exactly the engineered result this project refuses.</a:t>
            </a:r>
            <a:endParaRPr lang="en-US" sz="11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 · 18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probes, one mechanism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UV explanation is not fitted to the data — it is independently confirmed from three different directions.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3454298" cy="1847088"/>
          </a:xfrm>
          <a:prstGeom prst="roundRect">
            <a:avLst>
              <a:gd name="adj" fmla="val 247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487168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Spectral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255264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extraction gate saw random-matrix edges and no Schwarzian scale at any 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8698" y="2212848"/>
            <a:ext cx="3454298" cy="1847088"/>
          </a:xfrm>
          <a:prstGeom prst="roundRect">
            <a:avLst>
              <a:gd name="adj" fmla="val 247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24730" y="2487168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8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Parametric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624730" y="3255264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grid sits at β/C between 28 and 332 — nothing remotely semiclassical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97317" y="2212848"/>
            <a:ext cx="3454298" cy="1847088"/>
          </a:xfrm>
          <a:prstGeom prst="roundRect">
            <a:avLst>
              <a:gd name="adj" fmla="val 247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3349" y="2487168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57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Correlator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353349" y="3255264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barcode mismatch concentrates at the shortest separation and grows as the grid refines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334256"/>
            <a:ext cx="10911535" cy="1517904"/>
          </a:xfrm>
          <a:prstGeom prst="roundRect">
            <a:avLst>
              <a:gd name="adj" fmla="val 3012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4572000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single underlying statement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5047488"/>
            <a:ext cx="1018001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 ≤ 18 and the declared C(N) ≈ 0.01·N, SYK has not reached the regime in which a Schwarzian description applies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property of the declared dictionary itself: C caps at 0.18 for N ≤ 18, so no choice of β could have put any cell at β/C ≪ 1 without N in the thousands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 was therefore conducted entirely outside the regime where the dual is expected to be valid — and it says so</a:t>
            </a:r>
            <a:endParaRPr lang="en-US" sz="13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 · 19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Stating the scope exactly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result is only worth publishing if its boundaries are drawn precisely — and drawn by us rather than by a referee.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5349240" cy="3364992"/>
          </a:xfrm>
          <a:prstGeom prst="roundRect">
            <a:avLst>
              <a:gd name="adj" fmla="val 1359"/>
            </a:avLst>
          </a:prstGeom>
          <a:solidFill>
            <a:srgbClr val="EAF3EF"/>
          </a:solidFill>
          <a:ln w="12700">
            <a:solidFill>
              <a:srgbClr val="EAF3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Established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54096"/>
            <a:ext cx="47091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Schwarzian implementation is correct to quadrature precision (Checks A–E, Jacobian A/B-verified)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barcode reduces exactly to two correlator scalars on this construction, verified on all 224 diagrams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declared dictionary is unreachable for β ≤ 20 and inconsistent where fits exist at β = 40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mismatch is UV-localised, confirmed three independent ways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212848"/>
            <a:ext cx="5349240" cy="3364992"/>
          </a:xfrm>
          <a:prstGeom prst="roundRect">
            <a:avLst>
              <a:gd name="adj" fmla="val 1359"/>
            </a:avLst>
          </a:prstGeom>
          <a:solidFill>
            <a:srgbClr val="F7EEDF"/>
          </a:solidFill>
          <a:ln w="12700">
            <a:solidFill>
              <a:srgbClr val="F7EE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established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054096"/>
            <a:ext cx="47091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about ER = EPR itself — one dictionary was tested at small N and found not to apply there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about SYK/JT duality in general — the Schwarzian regime is expected at larger N and was not tested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missing soft mode is the whole story — finite-size artefacts were not disentangled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β = 40 fits sit where the data is noisiest (Ĝ(1) spreads of 13–16%)</a:t>
            </a:r>
            <a:endParaRPr lang="en-US" sz="12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E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377440"/>
            <a:ext cx="5669280" cy="5669280"/>
          </a:xfrm>
          <a:prstGeom prst="ellipse">
            <a:avLst/>
          </a:prstGeom>
          <a:solidFill>
            <a:srgbClr val="1B2A4A">
              <a:alpha val="65000"/>
            </a:srgbClr>
          </a:solidFill>
          <a:ln w="12700">
            <a:solidFill>
              <a:srgbClr val="1B2A4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VIII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60604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Rung 5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theorem the negative result handed us — and the proof obligations that remain.</a:t>
            </a:r>
            <a:endParaRPr lang="en-US" sz="14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VIII ·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changed shape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4 did not merely fail to find an isomorphism. It produced the criterion that decides when one exists — which is a stronger thing to have.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5349240" cy="3055620"/>
          </a:xfrm>
          <a:prstGeom prst="roundRect">
            <a:avLst>
              <a:gd name="adj" fmla="val 1496"/>
            </a:avLst>
          </a:prstGeom>
          <a:solidFill>
            <a:srgbClr val="F7EEDF"/>
          </a:solidFill>
          <a:ln w="12700">
            <a:solidFill>
              <a:srgbClr val="F7EE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original Rung 5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54096"/>
            <a:ext cx="4709160" cy="195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φ explicitly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is functorial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is invertible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Conclude: the barcodes are isomorphic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if they are not, the rung has no result at all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212848"/>
            <a:ext cx="5349240" cy="3055620"/>
          </a:xfrm>
          <a:prstGeom prst="roundRect">
            <a:avLst>
              <a:gd name="adj" fmla="val 1496"/>
            </a:avLst>
          </a:prstGeom>
          <a:solidFill>
            <a:srgbClr val="EAF3EF"/>
          </a:solidFill>
          <a:ln w="12700">
            <a:solidFill>
              <a:srgbClr val="EAF3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revised Rung 5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054096"/>
            <a:ext cx="4709160" cy="195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a structure theorem for the whole class of constructions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the exact condition under which φ is an isomorphism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criterion to SYK / JT and report the answer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Conclude either way — the theorem stands regardless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characterisation cannot fail to produce a result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better theorem than the one originally planned, and it is provable on the available timeline.</a:t>
            </a:r>
            <a:endParaRPr lang="en-US" sz="11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E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VIII ·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structure theorem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mathematical result. It applies to any monotone circulant filtration on a discretised circle — not only to SYK and JT.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1572768"/>
          </a:xfrm>
          <a:prstGeom prst="roundRect">
            <a:avLst>
              <a:gd name="adj" fmla="val 290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487168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Ĝ : {1,…,⌊n/2⌋} → ℝ₊ be strictly decreasing, and let D(i,j) = 1/Ĝ( m(i,j) 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035808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the circulant distance on ℤ/n.  Then the VR persistence module of D satisfies: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059936"/>
            <a:ext cx="3454298" cy="1426464"/>
          </a:xfrm>
          <a:prstGeom prst="roundRect">
            <a:avLst>
              <a:gd name="adj" fmla="val 320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4297680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H₀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4754880"/>
            <a:ext cx="29422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n − 1 finite bars, all equal to [ 0 , 1/Ĝ(1) ]. Every point joins the cycle at the same threshold.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8698" y="4059936"/>
            <a:ext cx="3454298" cy="1426464"/>
          </a:xfrm>
          <a:prstGeom prst="roundRect">
            <a:avLst>
              <a:gd name="adj" fmla="val 320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24730" y="4297680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H₁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24730" y="4754880"/>
            <a:ext cx="29422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bar, [ 1/Ĝ(1) , 1/Ĝ(k*) ], where k* is the least k with k/n ≥ 1/3. Never empty, never two.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7317" y="4059936"/>
            <a:ext cx="3454298" cy="1426464"/>
          </a:xfrm>
          <a:prstGeom prst="roundRect">
            <a:avLst>
              <a:gd name="adj" fmla="val 320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3349" y="4297680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Therefore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353349" y="4754880"/>
            <a:ext cx="29422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module is completely determined by the pair ( Ĝ(1) , Ĝ(k*) ). Two scalars, and nothing else.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from monotonicity plus Adamaszek–Adams; verified numerically on 224 independent diagrams with zero exceptions.</a:t>
            </a:r>
            <a:endParaRPr lang="en-US" sz="11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VIII ·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proof, in four obligations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short and independently checkable. The second is the only one with a real subtlety.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911535" cy="756666"/>
          </a:xfrm>
          <a:prstGeom prst="roundRect">
            <a:avLst>
              <a:gd name="adj" fmla="val 6042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316861"/>
            <a:ext cx="420624" cy="420624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9536" y="231686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261997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ordering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545461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monotonicity ⇒ the VR filtration passes through exactly the nested circulant graphs Cₙ(1..k) and nothing else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015234"/>
            <a:ext cx="10911535" cy="756666"/>
          </a:xfrm>
          <a:prstGeom prst="roundRect">
            <a:avLst>
              <a:gd name="adj" fmla="val 6042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3183255"/>
            <a:ext cx="420624" cy="420624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9536" y="318325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3128391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Homotopy type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3411855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Adamaszek–Adams Theorem 4.3 fixes the type at each k; the k/n = 1/3 wedge point is where H₁ dies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881628"/>
            <a:ext cx="10911535" cy="756666"/>
          </a:xfrm>
          <a:prstGeom prst="roundRect">
            <a:avLst>
              <a:gd name="adj" fmla="val 6042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" y="4049649"/>
            <a:ext cx="420624" cy="420624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9536" y="404964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3994785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Decomposability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4278249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complex is finite, hence pointwise finite-dimensional, hence interval-decomposable (Crawley-Boevey)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748022"/>
            <a:ext cx="10911535" cy="756666"/>
          </a:xfrm>
          <a:prstGeom prst="roundRect">
            <a:avLst>
              <a:gd name="adj" fmla="val 6042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" y="4916043"/>
            <a:ext cx="420624" cy="420624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9536" y="491604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481328" y="4861179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Isomorphism ⇔ equality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1481328" y="5144643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pfd modules, uniqueness of the interval decomposition makes equal barcodes exactly isomorphic modules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1, 3 and 4 are routine. Step 2 carries the one genuine open point in the theorem as currently stated.</a:t>
            </a:r>
            <a:endParaRPr lang="en-US" sz="11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VIII ·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open point, stated plainly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 = 24 lands exactly on a boundary case of the Adamaszek–Adams classification. That is convenient for us and a gap in the general statement.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5349240" cy="2420234"/>
          </a:xfrm>
          <a:prstGeom prst="roundRect">
            <a:avLst>
              <a:gd name="adj" fmla="val 1889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at n = 24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54096"/>
            <a:ext cx="4709160" cy="132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k* = 8 gives k/n = 1/3 EXACTLY.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that point the classification gives a wedge of n − 2k − 1 = 7 copies of S², so H₁ vanishes there precisely. Clean, and exactly what the numerics show.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2212848"/>
            <a:ext cx="5349240" cy="2420234"/>
          </a:xfrm>
          <a:prstGeom prst="roundRect">
            <a:avLst>
              <a:gd name="adj" fmla="val 1889"/>
            </a:avLst>
          </a:prstGeom>
          <a:solidFill>
            <a:srgbClr val="F7EEDF"/>
          </a:solidFill>
          <a:ln w="12700">
            <a:solidFill>
              <a:srgbClr val="F7EE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not yet settled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054096"/>
            <a:ext cx="4709160" cy="132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general n, k/n = 1/3 need not be attained exactly, and the theorem's branch changes on either side of it.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statement must therefore either carry 3 | n as a hypothesis, or handle the generic case explicitly. Writing ⌊n/3⌋ without checking which branch applies would be an error.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remaining item on the Rung 5 proof, and it is a bounded, well-defined piece of work rather than an open research question.</a:t>
            </a:r>
            <a:endParaRPr lang="en-US" sz="11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E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VIII ·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corollary: exactly when φ is an isomorphism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criterion the project set out to find — now derived rather than assumed, and decidable by direct computation.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1051560"/>
          </a:xfrm>
          <a:prstGeom prst="roundRect">
            <a:avLst>
              <a:gd name="adj" fmla="val 434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9456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  is a natural isomorphism    ⟺    Ĝ_EPR(1) = Ĝ_ER(1)   and   Ĝ_EPR(k*) = Ĝ_ER(k*)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3454298" cy="1751990"/>
          </a:xfrm>
          <a:prstGeom prst="roundRect">
            <a:avLst>
              <a:gd name="adj" fmla="val 261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follows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233672"/>
            <a:ext cx="2942234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theorem determines each module from its two scalars; equal barcodes are isomorphic modules by uniqueness of decomposition.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3538728"/>
            <a:ext cx="3454298" cy="1751990"/>
          </a:xfrm>
          <a:prstGeom prst="roundRect">
            <a:avLst>
              <a:gd name="adj" fmla="val 261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4730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Naturality is free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624730" y="4233672"/>
            <a:ext cx="2942234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functor category, morphisms of persistence modules ARE natural transformations. There is no separate naturality condition to check.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7317" y="3538728"/>
            <a:ext cx="3454298" cy="1751990"/>
          </a:xfrm>
          <a:prstGeom prst="roundRect">
            <a:avLst>
              <a:gd name="adj" fmla="val 261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3349" y="3776472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verdict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53349" y="4233672"/>
            <a:ext cx="2942234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SYK / JT fails the criterion at N ≤ 18. C_fit ratios of 1.47 to 7.81 mean the two scalars cannot be matched simultaneously.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the project began with is now answered — not with a yes, but with a decidable criterion and a definite no in this regime.</a:t>
            </a:r>
            <a:endParaRPr lang="en-US" sz="11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E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377440"/>
            <a:ext cx="5669280" cy="5669280"/>
          </a:xfrm>
          <a:prstGeom prst="ellipse">
            <a:avLst/>
          </a:prstGeom>
          <a:solidFill>
            <a:srgbClr val="1B2A4A">
              <a:alpha val="65000"/>
            </a:srgbClr>
          </a:solidFill>
          <a:ln w="12700">
            <a:solidFill>
              <a:srgbClr val="1B2A4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IX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60604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means, and what comes next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 theorem, a falsified dictionary, and the construction that should replace this one.</a:t>
            </a:r>
            <a:endParaRPr lang="en-US" sz="14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 ·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contributions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did not produce the result it set out to find. It produced three others, and they are more robust than the original target would have been.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3454298" cy="2426208"/>
          </a:xfrm>
          <a:prstGeom prst="roundRect">
            <a:avLst>
              <a:gd name="adj" fmla="val 1884"/>
            </a:avLst>
          </a:prstGeom>
          <a:solidFill>
            <a:srgbClr val="EAF3EF"/>
          </a:solidFill>
          <a:ln w="12700">
            <a:solidFill>
              <a:srgbClr val="EAF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87168"/>
            <a:ext cx="402336" cy="402336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54096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structure theorem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75888"/>
            <a:ext cx="290565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Monotone circulant thermal-circle filtrations have persistence modules determined by two scalars. General, provable, and new.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8698" y="2212848"/>
            <a:ext cx="3454298" cy="2426208"/>
          </a:xfrm>
          <a:prstGeom prst="roundRect">
            <a:avLst>
              <a:gd name="adj" fmla="val 1884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3018" y="2487168"/>
            <a:ext cx="402336" cy="402336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3018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43018" y="3054096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falsifiable criterion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643018" y="3675888"/>
            <a:ext cx="290565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is a natural isomorphism exactly when those two scalars agree — converting an open question into a computation.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7317" y="2212848"/>
            <a:ext cx="3454298" cy="2426208"/>
          </a:xfrm>
          <a:prstGeom prst="roundRect">
            <a:avLst>
              <a:gd name="adj" fmla="val 1884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1637" y="2487168"/>
            <a:ext cx="402336" cy="402336"/>
          </a:xfrm>
          <a:prstGeom prst="ellipse">
            <a:avLst/>
          </a:prstGeom>
          <a:solidFill>
            <a:srgbClr val="C057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71637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371637" y="3054096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decisive negative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371637" y="3675888"/>
            <a:ext cx="290565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declared SYK/JT dictionary fails that criterion at N ≤ 18, with a mechanism confirmed three independent ways.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also a methodological contribution: single-circle Vietoris–Rips is structurally blind as a probe of holography, and the theorem says exactly why.</a:t>
            </a:r>
            <a:endParaRPr lang="en-US" sz="11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 ·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construction that should replace this one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theorem does more than close a door — it identifies which assumption to break, and there is one obvious candidate.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5349240" cy="3364992"/>
          </a:xfrm>
          <a:prstGeom prst="roundRect">
            <a:avLst>
              <a:gd name="adj" fmla="val 1359"/>
            </a:avLst>
          </a:prstGeom>
          <a:solidFill>
            <a:srgbClr val="F7EEDF"/>
          </a:solidFill>
          <a:ln w="12700">
            <a:solidFill>
              <a:srgbClr val="F7EE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wrong structurally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54096"/>
            <a:ext cx="47091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thermal circle means a circulant distance matrix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Circulant plus monotone means the filtration is forced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forced filtration means the topology carries no information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equilibrium correlators on a time circle are ALWAYS separation-only, by KMS — so this is not fixable by a better correlator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212848"/>
            <a:ext cx="5349240" cy="3364992"/>
          </a:xfrm>
          <a:prstGeom prst="roundRect">
            <a:avLst>
              <a:gd name="adj" fmla="val 1359"/>
            </a:avLst>
          </a:prstGeom>
          <a:solidFill>
            <a:srgbClr val="EAF3EF"/>
          </a:solidFill>
          <a:ln w="12700">
            <a:solidFill>
              <a:srgbClr val="EAF3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boundaries, not one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054096"/>
            <a:ext cx="47091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thermofield double has TWO boundary circles, left and right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wormhole is precisely the thing connecting them — and this construction never used it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two-boundary distance matrix is not circulant, so the theorem does not apply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could then carry real information about the connection between sides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4 used a one-boundary quantity throughout. It therefore discarded exactly the structure that ER = EPR is about — which, in hindsight, explains the result.</a:t>
            </a:r>
            <a:endParaRPr lang="en-US" sz="11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 ·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paper, reshaped around the theorem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negative result becomes an application of the structure theorem rather than the headline.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911535" cy="756666"/>
          </a:xfrm>
          <a:prstGeom prst="roundRect">
            <a:avLst>
              <a:gd name="adj" fmla="val 6042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316861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9536" y="231686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261997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theorem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545461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Monotone circulant thermal-circle filtrations reduce exactly to two scalars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015234"/>
            <a:ext cx="10911535" cy="756666"/>
          </a:xfrm>
          <a:prstGeom prst="roundRect">
            <a:avLst>
              <a:gd name="adj" fmla="val 6042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3183255"/>
            <a:ext cx="420624" cy="420624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9536" y="318325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3128391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Corollary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3411855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precise condition under which φ is a natural isomorphism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881628"/>
            <a:ext cx="10911535" cy="756666"/>
          </a:xfrm>
          <a:prstGeom prst="roundRect">
            <a:avLst>
              <a:gd name="adj" fmla="val 6042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" y="4049649"/>
            <a:ext cx="420624" cy="420624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9536" y="404964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3994785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4278249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SYK / JT fails the criterion at N ≤ 18, with the UV mechanism and full scope statement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748022"/>
            <a:ext cx="10911535" cy="756666"/>
          </a:xfrm>
          <a:prstGeom prst="roundRect">
            <a:avLst>
              <a:gd name="adj" fmla="val 6042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" y="4916043"/>
            <a:ext cx="420624" cy="420624"/>
          </a:xfrm>
          <a:prstGeom prst="ellipse">
            <a:avLst/>
          </a:prstGeom>
          <a:solidFill>
            <a:srgbClr val="C057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9536" y="491604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481328" y="4861179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1481328" y="5144643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Single-circle Vietoris–Rips is structurally blind here; two-boundary constructions are the correct next step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 theorem with a falsifiable criterion is harder to dismantle than a soft agreement claim — and it is a contribution regardless of what SYK does at larger N.</a:t>
            </a:r>
            <a:endParaRPr lang="en-US" sz="115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 ·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things stand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454298" cy="1847088"/>
          </a:xfrm>
          <a:prstGeom prst="roundRect">
            <a:avLst>
              <a:gd name="adj" fmla="val 247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645920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8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414016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Rungs complete; Rung 5's theorem statement drafted, one proof obligation open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68698" y="1371600"/>
            <a:ext cx="3454298" cy="1847088"/>
          </a:xfrm>
          <a:prstGeom prst="roundRect">
            <a:avLst>
              <a:gd name="adj" fmla="val 247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24730" y="1645920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224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624730" y="2414016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diagrams computed, with zero structural exceptions across the grid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7317" y="1371600"/>
            <a:ext cx="3454298" cy="1847088"/>
          </a:xfrm>
          <a:prstGeom prst="roundRect">
            <a:avLst>
              <a:gd name="adj" fmla="val 247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3349" y="1645920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25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353349" y="2414016"/>
            <a:ext cx="29422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target; application portals and ISEF entry follow on November 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493008"/>
            <a:ext cx="10911535" cy="2359152"/>
          </a:xfrm>
          <a:prstGeom prst="roundRect">
            <a:avLst>
              <a:gd name="adj" fmla="val 1938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3730752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 next actions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206240"/>
            <a:ext cx="10180015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repository access — the entire Rung 4 body of work exists only on one machine until it is pushed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k/n = 1/3 branch in the structure theorem, or add 3 | n as an explicit hypothesis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 Check A in the write-up as the derived −log 2 prediction rather than an empirical constant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the log-convention description: it assigns zero distance to nearest neighbours, which deletes H₀ entirely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two-boundary construction as a specification, so it is ready to build rather than merely proposed</a:t>
            </a:r>
            <a:endParaRPr lang="en-US" sz="13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 ·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 of labour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collaborators, cleanly separated responsibilities, one shared standard of evidence.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5349240" cy="2842260"/>
          </a:xfrm>
          <a:prstGeom prst="roundRect">
            <a:avLst>
              <a:gd name="adj" fmla="val 160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Naman Guggilam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54096"/>
            <a:ext cx="4709160" cy="174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mathematical formalism and the categorical statement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of φ, functoriality, and invertibility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theorem and its corollary — Rung 5 in full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review and validation of every numerical claim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theorem, proof, and interpretation sections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212848"/>
            <a:ext cx="5349240" cy="2842260"/>
          </a:xfrm>
          <a:prstGeom prst="roundRect">
            <a:avLst>
              <a:gd name="adj" fmla="val 1609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Arjun Paradkar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054096"/>
            <a:ext cx="4709160" cy="174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SYK numerical implementation and the Majorana construction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computation and spectral caching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persistent homology pipeline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 gravity geometry and barcode generation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methods and implementation sections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working method: every computational plan is reviewed for invented parameters, quiet scope changes, and asserted-but-unverified numbers before it runs.</a:t>
            </a:r>
            <a:endParaRPr lang="en-US" sz="11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 · 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tell someone starting this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that were not obvious at the beginning and are now the most transferable part of the work.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2522144" cy="263956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87168"/>
            <a:ext cx="402336" cy="402336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invariant is not forced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75888"/>
            <a:ext cx="1973504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comparing two barcodes, ask whether the construction leaves the topology any freedom at all. Ours did not, and we found out late.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36544" y="2212848"/>
            <a:ext cx="2522144" cy="263956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10864" y="2487168"/>
            <a:ext cx="402336" cy="402336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10864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710864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the output first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3710864" y="3675888"/>
            <a:ext cx="1973504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validation available is deriving what a number should be and then measuring it. We did this for W_H₀ and for ln Z.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33008" y="2212848"/>
            <a:ext cx="2522144" cy="263956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7328" y="2487168"/>
            <a:ext cx="402336" cy="402336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7328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both sides identically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07328" y="3675888"/>
            <a:ext cx="1973504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 clouds indexed by unrelated physical quantities cannot be compared, however good the pipeline is.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29471" y="2212848"/>
            <a:ext cx="2522144" cy="2639568"/>
          </a:xfrm>
          <a:prstGeom prst="roundRect">
            <a:avLst>
              <a:gd name="adj" fmla="val 181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03791" y="2487168"/>
            <a:ext cx="402336" cy="402336"/>
          </a:xfrm>
          <a:prstGeom prst="ellipse">
            <a:avLst/>
          </a:prstGeom>
          <a:solidFill>
            <a:srgbClr val="C057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03791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303791" y="3054096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the failed gate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9303791" y="3675888"/>
            <a:ext cx="1973504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pre-registered criterion that fails cleanly is a result. Quietly replacing it with a fitted parameter is not.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fifth: an exact zero is a warning sign, not a triumph. Real measurements have residuals.</a:t>
            </a:r>
            <a:endParaRPr lang="en-US" sz="11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0E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926080"/>
            <a:ext cx="5852160" cy="5852160"/>
          </a:xfrm>
          <a:prstGeom prst="ellipse">
            <a:avLst/>
          </a:prstGeom>
          <a:solidFill>
            <a:srgbClr val="1B2A4A">
              <a:alpha val="60000"/>
            </a:srgbClr>
          </a:solidFill>
          <a:ln w="12700">
            <a:solidFill>
              <a:srgbClr val="1B2A4A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1280160"/>
            <a:ext cx="4206240" cy="4206240"/>
          </a:xfrm>
          <a:prstGeom prst="ellipse">
            <a:avLst/>
          </a:prstGeom>
          <a:solidFill>
            <a:srgbClr val="24406B">
              <a:alpha val="50000"/>
            </a:srgbClr>
          </a:solidFill>
          <a:ln w="12700">
            <a:solidFill>
              <a:srgbClr val="24406B">
                <a:alpha val="5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71600" y="17373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spc="4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LANDS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22402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set out to prove an isomorphism.</a:t>
            </a:r>
            <a:endParaRPr lang="en-US" sz="28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proved exactly what one would require —</a:t>
            </a:r>
            <a:endParaRPr lang="en-US" sz="28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showed this pair does not have it.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394960" y="4315968"/>
            <a:ext cx="1371600" cy="0"/>
          </a:xfrm>
          <a:prstGeom prst="line">
            <a:avLst/>
          </a:prstGeom>
          <a:noFill/>
          <a:ln w="25400">
            <a:solidFill>
              <a:srgbClr val="E9A1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94560" y="459028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B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topology turned out to be a lossy re-encoding of two correlator values, and the dictionary that was supposed to relate them cannot fit both at once. That is a sharper result than the one we were looking for, and it points directly at the construction that should come next.</a:t>
            </a:r>
            <a:endParaRPr lang="en-US" sz="14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and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3875532"/>
          </a:xfrm>
          <a:prstGeom prst="roundRect">
            <a:avLst>
              <a:gd name="adj" fmla="val 118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10088575" cy="3326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Maldacena &amp; Susskind, “Cool horizons for entangled black holes” (2013) — the ER = EPR conjecture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Maldacena &amp; Stanford, “Comments on the Sachdev-Ye-Kitaev model” — large-N dictionary, specific heat, the α_S calibration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Mertens, Turiaci &amp; Verlinde, arXiv:1705.08408 — the exact Schwarzian two-point function implemented here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Adamaszek &amp; Adams, “The Vietoris–Rips complexes of a circle,” arXiv:1503.03669, Theorem 4.3 — verified at source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Ryu &amp; Takayanagi — holographic entanglement entropy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Crawley-Boevey — decomposition of pointwise finite-dimensional persistence modules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Edelsbrunner &amp; Harer, Computational Topology; Oudot, Persistence Theory; Hatcher, Algebraic Topology; Riehl, Category Theory in Context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ripser (persistent homology), persim (Wasserstein), NumPy / SciPy (quadrature and diagonalisation)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numerical results reported here are from committed runs; every claim in the paper points at a verbatim run record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98</Slides>
  <Notes>98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2026-09-02T02:26:49Z</dcterms:created>
  <dcterms:modified xsi:type="dcterms:W3CDTF">2026-09-02T02:26:49Z</dcterms:modified>
</cp:coreProperties>
</file>